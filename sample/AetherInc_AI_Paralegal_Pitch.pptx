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etherInc: Privacy-First AI Paralegal Pitch Deck" id="{06D8FD52-F984-43D4-BEAC-8C9C2663E846}">
          <p14:sldIdLst>
            <p14:sldId id="2561"/>
          </p14:sldIdLst>
        </p14:section>
        <p14:section name="Introduction" id="{E896D392-0FD3-4A82-AF80-D11FC70F880F}">
          <p14:sldIdLst>
            <p14:sldId id="2562"/>
            <p14:sldId id="2563"/>
          </p14:sldIdLst>
        </p14:section>
        <p14:section name="Problem and Market Opportunity" id="{0B7DDD63-A73F-41C0-B8B0-E9E82425B583}">
          <p14:sldIdLst>
            <p14:sldId id="2564"/>
            <p14:sldId id="2565"/>
            <p14:sldId id="2566"/>
          </p14:sldIdLst>
        </p14:section>
        <p14:section name="Solution and Differentiators" id="{63873E1E-AAB4-4AB7-95B9-1EC47A462CD3}">
          <p14:sldIdLst>
            <p14:sldId id="2567"/>
            <p14:sldId id="2568"/>
            <p14:sldId id="2569"/>
          </p14:sldIdLst>
        </p14:section>
        <p14:section name="Business Model and Competitive Landscape" id="{A0F3E9E8-A503-43CA-AE62-CAE47B77AE43}">
          <p14:sldIdLst>
            <p14:sldId id="2570"/>
            <p14:sldId id="2571"/>
            <p14:sldId id="2572"/>
          </p14:sldIdLst>
        </p14:section>
        <p14:section name="Funding and Roadmap" id="{A984D5A0-299F-4ECA-9071-78D2BA018C17}">
          <p14:sldIdLst>
            <p14:sldId id="2573"/>
            <p14:sldId id="2574"/>
            <p14:sldId id="2575"/>
          </p14:sldIdLst>
        </p14:section>
        <p14:section name="Conclusion" id="{77BB8F5B-7781-4D4E-A242-ADFC4885D251}">
          <p14:sldIdLst>
            <p14:sldId id="2576"/>
            <p14:sldId id="257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5A42BC-26B2-4A1C-A236-5D6661375911}" v="19" dt="2025-11-24T12:52:35.579"/>
    <p1510:client id="{B8D11BCF-3963-6EE4-F053-B539B1514605}" v="22" dt="2025-11-24T12:59:23.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3B2219-8F97-4C28-B425-E6916974B354}"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D2FEE4D8-FE5B-433B-8535-5E2CCBF4778F}">
      <dgm:prSet/>
      <dgm:spPr/>
      <dgm:t>
        <a:bodyPr/>
        <a:lstStyle/>
        <a:p>
          <a:pPr>
            <a:lnSpc>
              <a:spcPct val="100000"/>
            </a:lnSpc>
            <a:defRPr b="1"/>
          </a:pPr>
          <a:r>
            <a:rPr lang="en-US"/>
            <a:t>Invitation to Investors</a:t>
          </a:r>
        </a:p>
      </dgm:t>
    </dgm:pt>
    <dgm:pt modelId="{55C1BD75-7815-47A6-9DE8-5BE1C9B0C541}" type="parTrans" cxnId="{C7BF7563-C0ED-410E-8397-9E65E37F70B6}">
      <dgm:prSet/>
      <dgm:spPr/>
      <dgm:t>
        <a:bodyPr/>
        <a:lstStyle/>
        <a:p>
          <a:endParaRPr lang="en-US"/>
        </a:p>
      </dgm:t>
    </dgm:pt>
    <dgm:pt modelId="{35947A1F-8EE9-40C5-AA3D-2E8A65349C86}" type="sibTrans" cxnId="{C7BF7563-C0ED-410E-8397-9E65E37F70B6}">
      <dgm:prSet/>
      <dgm:spPr/>
      <dgm:t>
        <a:bodyPr/>
        <a:lstStyle/>
        <a:p>
          <a:pPr>
            <a:lnSpc>
              <a:spcPct val="100000"/>
            </a:lnSpc>
            <a:defRPr b="1"/>
          </a:pPr>
          <a:endParaRPr lang="en-US"/>
        </a:p>
      </dgm:t>
    </dgm:pt>
    <dgm:pt modelId="{7625EB06-B060-48C9-8A0C-EA08F3E40A49}">
      <dgm:prSet/>
      <dgm:spPr/>
      <dgm:t>
        <a:bodyPr/>
        <a:lstStyle/>
        <a:p>
          <a:pPr>
            <a:lnSpc>
              <a:spcPct val="100000"/>
            </a:lnSpc>
          </a:pPr>
          <a:r>
            <a:rPr lang="en-US"/>
            <a:t>AetherInc invites investors and partners to support privacy-first AI innovations in legal technology.</a:t>
          </a:r>
        </a:p>
      </dgm:t>
    </dgm:pt>
    <dgm:pt modelId="{F1D1FE07-4E23-463A-BA81-345A40982ADC}" type="parTrans" cxnId="{0E6D8F0E-9252-4861-ADD2-4D6F902C6C48}">
      <dgm:prSet/>
      <dgm:spPr/>
      <dgm:t>
        <a:bodyPr/>
        <a:lstStyle/>
        <a:p>
          <a:endParaRPr lang="en-US"/>
        </a:p>
      </dgm:t>
    </dgm:pt>
    <dgm:pt modelId="{EED4AEEC-437D-479F-8A11-A7881D324A5B}" type="sibTrans" cxnId="{0E6D8F0E-9252-4861-ADD2-4D6F902C6C48}">
      <dgm:prSet/>
      <dgm:spPr/>
      <dgm:t>
        <a:bodyPr/>
        <a:lstStyle/>
        <a:p>
          <a:endParaRPr lang="en-US"/>
        </a:p>
      </dgm:t>
    </dgm:pt>
    <dgm:pt modelId="{475DCAF1-0970-453D-B408-99D56493DD07}">
      <dgm:prSet/>
      <dgm:spPr/>
      <dgm:t>
        <a:bodyPr/>
        <a:lstStyle/>
        <a:p>
          <a:pPr>
            <a:lnSpc>
              <a:spcPct val="100000"/>
            </a:lnSpc>
            <a:defRPr b="1"/>
          </a:pPr>
          <a:r>
            <a:rPr lang="en-US"/>
            <a:t>Focus on Security and Compliance</a:t>
          </a:r>
        </a:p>
      </dgm:t>
    </dgm:pt>
    <dgm:pt modelId="{A04321F4-89BC-454A-B29F-8EC7899B976F}" type="parTrans" cxnId="{665A77A4-CCE5-42F9-AC80-4FBE9E070746}">
      <dgm:prSet/>
      <dgm:spPr/>
      <dgm:t>
        <a:bodyPr/>
        <a:lstStyle/>
        <a:p>
          <a:endParaRPr lang="en-US"/>
        </a:p>
      </dgm:t>
    </dgm:pt>
    <dgm:pt modelId="{62E6B697-BFEA-4BF1-9930-89778D24844C}" type="sibTrans" cxnId="{665A77A4-CCE5-42F9-AC80-4FBE9E070746}">
      <dgm:prSet/>
      <dgm:spPr/>
      <dgm:t>
        <a:bodyPr/>
        <a:lstStyle/>
        <a:p>
          <a:pPr>
            <a:lnSpc>
              <a:spcPct val="100000"/>
            </a:lnSpc>
            <a:defRPr b="1"/>
          </a:pPr>
          <a:endParaRPr lang="en-US"/>
        </a:p>
      </dgm:t>
    </dgm:pt>
    <dgm:pt modelId="{ED36FF48-FB95-4EB9-B2A5-81DC3D6EF064}">
      <dgm:prSet/>
      <dgm:spPr/>
      <dgm:t>
        <a:bodyPr/>
        <a:lstStyle/>
        <a:p>
          <a:pPr>
            <a:lnSpc>
              <a:spcPct val="100000"/>
            </a:lnSpc>
          </a:pPr>
          <a:r>
            <a:rPr lang="en-US"/>
            <a:t>The initiative emphasizes security, compliance, and efficiency in modern legal workflows.</a:t>
          </a:r>
        </a:p>
      </dgm:t>
    </dgm:pt>
    <dgm:pt modelId="{52989305-8E3C-44EE-A8FD-434167EB353D}" type="parTrans" cxnId="{D82394FB-1614-4C80-B731-50AD72BB3DB7}">
      <dgm:prSet/>
      <dgm:spPr/>
      <dgm:t>
        <a:bodyPr/>
        <a:lstStyle/>
        <a:p>
          <a:endParaRPr lang="en-US"/>
        </a:p>
      </dgm:t>
    </dgm:pt>
    <dgm:pt modelId="{4A094C7A-2D1A-49B7-9ECB-D2DD5C5BD376}" type="sibTrans" cxnId="{D82394FB-1614-4C80-B731-50AD72BB3DB7}">
      <dgm:prSet/>
      <dgm:spPr/>
      <dgm:t>
        <a:bodyPr/>
        <a:lstStyle/>
        <a:p>
          <a:endParaRPr lang="en-US"/>
        </a:p>
      </dgm:t>
    </dgm:pt>
    <dgm:pt modelId="{C029AF74-A53C-4FF5-AF14-C351BCABA528}">
      <dgm:prSet/>
      <dgm:spPr/>
      <dgm:t>
        <a:bodyPr/>
        <a:lstStyle/>
        <a:p>
          <a:pPr>
            <a:lnSpc>
              <a:spcPct val="100000"/>
            </a:lnSpc>
            <a:defRPr b="1"/>
          </a:pPr>
          <a:r>
            <a:rPr lang="en-US"/>
            <a:t>Market Leadership Potential</a:t>
          </a:r>
        </a:p>
      </dgm:t>
    </dgm:pt>
    <dgm:pt modelId="{876CA9B4-7097-4A0B-A37A-F62AC8889B1D}" type="parTrans" cxnId="{343C426E-DE2C-4391-AB69-48D75549A75D}">
      <dgm:prSet/>
      <dgm:spPr/>
      <dgm:t>
        <a:bodyPr/>
        <a:lstStyle/>
        <a:p>
          <a:endParaRPr lang="en-US"/>
        </a:p>
      </dgm:t>
    </dgm:pt>
    <dgm:pt modelId="{AD9C6E5F-13B1-4C23-A80E-A98FE3614086}" type="sibTrans" cxnId="{343C426E-DE2C-4391-AB69-48D75549A75D}">
      <dgm:prSet/>
      <dgm:spPr/>
      <dgm:t>
        <a:bodyPr/>
        <a:lstStyle/>
        <a:p>
          <a:endParaRPr lang="en-US"/>
        </a:p>
      </dgm:t>
    </dgm:pt>
    <dgm:pt modelId="{1E0FF0D4-8206-4F06-9DCA-5855A65D36A2}">
      <dgm:prSet/>
      <dgm:spPr/>
      <dgm:t>
        <a:bodyPr/>
        <a:lstStyle/>
        <a:p>
          <a:pPr>
            <a:lnSpc>
              <a:spcPct val="100000"/>
            </a:lnSpc>
          </a:pPr>
          <a:r>
            <a:rPr lang="en-US"/>
            <a:t>AetherInc aims to lead the LegalTech market with innovative AI products and a clear vision.</a:t>
          </a:r>
        </a:p>
      </dgm:t>
    </dgm:pt>
    <dgm:pt modelId="{BBAD4CCA-7E70-4C35-A6E6-156952840B32}" type="parTrans" cxnId="{BE782FA2-BC90-479B-B14E-C935BDA7F6B7}">
      <dgm:prSet/>
      <dgm:spPr/>
      <dgm:t>
        <a:bodyPr/>
        <a:lstStyle/>
        <a:p>
          <a:endParaRPr lang="en-US"/>
        </a:p>
      </dgm:t>
    </dgm:pt>
    <dgm:pt modelId="{F612120F-E457-4F3B-8FB5-6A4C4C5B81B1}" type="sibTrans" cxnId="{BE782FA2-BC90-479B-B14E-C935BDA7F6B7}">
      <dgm:prSet/>
      <dgm:spPr/>
      <dgm:t>
        <a:bodyPr/>
        <a:lstStyle/>
        <a:p>
          <a:endParaRPr lang="en-US"/>
        </a:p>
      </dgm:t>
    </dgm:pt>
    <dgm:pt modelId="{01F88447-4918-4473-8DE6-8A424AF9A362}" type="pres">
      <dgm:prSet presAssocID="{9B3B2219-8F97-4C28-B425-E6916974B354}" presName="Name0" presStyleCnt="0">
        <dgm:presLayoutVars>
          <dgm:dir/>
          <dgm:resizeHandles val="exact"/>
        </dgm:presLayoutVars>
      </dgm:prSet>
      <dgm:spPr/>
    </dgm:pt>
    <dgm:pt modelId="{D6FD1B4B-0058-46C2-8EEE-95763572B8EF}" type="pres">
      <dgm:prSet presAssocID="{D2FEE4D8-FE5B-433B-8535-5E2CCBF4778F}" presName="compNode" presStyleCnt="0"/>
      <dgm:spPr/>
    </dgm:pt>
    <dgm:pt modelId="{A6B7F61D-5DF3-4FC7-9943-76678C2C1CE8}" type="pres">
      <dgm:prSet presAssocID="{D2FEE4D8-FE5B-433B-8535-5E2CCBF4778F}" presName="pictRect" presStyleLbl="revTx" presStyleIdx="0" presStyleCnt="6">
        <dgm:presLayoutVars>
          <dgm:chMax val="0"/>
          <dgm:bulletEnabled/>
        </dgm:presLayoutVars>
      </dgm:prSet>
      <dgm:spPr/>
    </dgm:pt>
    <dgm:pt modelId="{DB537DF2-6F24-4B24-90DB-295B67D730CB}" type="pres">
      <dgm:prSet presAssocID="{D2FEE4D8-FE5B-433B-8535-5E2CCBF4778F}" presName="textRect" presStyleLbl="revTx" presStyleIdx="1" presStyleCnt="6">
        <dgm:presLayoutVars>
          <dgm:bulletEnabled/>
        </dgm:presLayoutVars>
      </dgm:prSet>
      <dgm:spPr/>
    </dgm:pt>
    <dgm:pt modelId="{E18349CC-BEA6-41B8-9D93-0832502E6329}" type="pres">
      <dgm:prSet presAssocID="{35947A1F-8EE9-40C5-AA3D-2E8A65349C86}" presName="sibTrans" presStyleLbl="sibTrans2D1" presStyleIdx="0" presStyleCnt="0"/>
      <dgm:spPr/>
    </dgm:pt>
    <dgm:pt modelId="{FE685AFD-3895-42D0-8AD2-60DE91E89EE5}" type="pres">
      <dgm:prSet presAssocID="{475DCAF1-0970-453D-B408-99D56493DD07}" presName="compNode" presStyleCnt="0"/>
      <dgm:spPr/>
    </dgm:pt>
    <dgm:pt modelId="{45183938-44FE-4AB2-A01E-F64E601362F3}" type="pres">
      <dgm:prSet presAssocID="{475DCAF1-0970-453D-B408-99D56493DD07}" presName="pictRect" presStyleLbl="revTx" presStyleIdx="2" presStyleCnt="6">
        <dgm:presLayoutVars>
          <dgm:chMax val="0"/>
          <dgm:bulletEnabled/>
        </dgm:presLayoutVars>
      </dgm:prSet>
      <dgm:spPr/>
    </dgm:pt>
    <dgm:pt modelId="{0DB972EB-ACEB-411F-B9E8-456A9C03E25F}" type="pres">
      <dgm:prSet presAssocID="{475DCAF1-0970-453D-B408-99D56493DD07}" presName="textRect" presStyleLbl="revTx" presStyleIdx="3" presStyleCnt="6">
        <dgm:presLayoutVars>
          <dgm:bulletEnabled/>
        </dgm:presLayoutVars>
      </dgm:prSet>
      <dgm:spPr/>
    </dgm:pt>
    <dgm:pt modelId="{31151301-2FAB-4303-A9EE-4324A655EF69}" type="pres">
      <dgm:prSet presAssocID="{62E6B697-BFEA-4BF1-9930-89778D24844C}" presName="sibTrans" presStyleLbl="sibTrans2D1" presStyleIdx="0" presStyleCnt="0"/>
      <dgm:spPr/>
    </dgm:pt>
    <dgm:pt modelId="{65826D3F-D952-4754-B66D-3330F2191F97}" type="pres">
      <dgm:prSet presAssocID="{C029AF74-A53C-4FF5-AF14-C351BCABA528}" presName="compNode" presStyleCnt="0"/>
      <dgm:spPr/>
    </dgm:pt>
    <dgm:pt modelId="{107247FE-BB17-4F62-BB93-11467C67D632}" type="pres">
      <dgm:prSet presAssocID="{C029AF74-A53C-4FF5-AF14-C351BCABA528}" presName="pictRect" presStyleLbl="revTx" presStyleIdx="4" presStyleCnt="6">
        <dgm:presLayoutVars>
          <dgm:chMax val="0"/>
          <dgm:bulletEnabled/>
        </dgm:presLayoutVars>
      </dgm:prSet>
      <dgm:spPr/>
    </dgm:pt>
    <dgm:pt modelId="{0709AC8D-CA6A-4ABA-A2D4-F9C492DFBA67}" type="pres">
      <dgm:prSet presAssocID="{C029AF74-A53C-4FF5-AF14-C351BCABA528}" presName="textRect" presStyleLbl="revTx" presStyleIdx="5" presStyleCnt="6">
        <dgm:presLayoutVars>
          <dgm:bulletEnabled/>
        </dgm:presLayoutVars>
      </dgm:prSet>
      <dgm:spPr/>
    </dgm:pt>
  </dgm:ptLst>
  <dgm:cxnLst>
    <dgm:cxn modelId="{2F4BB10A-FD79-41EE-A6DC-7FB061E7915F}" type="presOf" srcId="{35947A1F-8EE9-40C5-AA3D-2E8A65349C86}" destId="{E18349CC-BEA6-41B8-9D93-0832502E6329}" srcOrd="0" destOrd="0" presId="urn:microsoft.com/office/officeart/2024/3/layout/hArchList1"/>
    <dgm:cxn modelId="{0E6D8F0E-9252-4861-ADD2-4D6F902C6C48}" srcId="{D2FEE4D8-FE5B-433B-8535-5E2CCBF4778F}" destId="{7625EB06-B060-48C9-8A0C-EA08F3E40A49}" srcOrd="0" destOrd="0" parTransId="{F1D1FE07-4E23-463A-BA81-345A40982ADC}" sibTransId="{EED4AEEC-437D-479F-8A11-A7881D324A5B}"/>
    <dgm:cxn modelId="{C7BF7563-C0ED-410E-8397-9E65E37F70B6}" srcId="{9B3B2219-8F97-4C28-B425-E6916974B354}" destId="{D2FEE4D8-FE5B-433B-8535-5E2CCBF4778F}" srcOrd="0" destOrd="0" parTransId="{55C1BD75-7815-47A6-9DE8-5BE1C9B0C541}" sibTransId="{35947A1F-8EE9-40C5-AA3D-2E8A65349C86}"/>
    <dgm:cxn modelId="{343C426E-DE2C-4391-AB69-48D75549A75D}" srcId="{9B3B2219-8F97-4C28-B425-E6916974B354}" destId="{C029AF74-A53C-4FF5-AF14-C351BCABA528}" srcOrd="2" destOrd="0" parTransId="{876CA9B4-7097-4A0B-A37A-F62AC8889B1D}" sibTransId="{AD9C6E5F-13B1-4C23-A80E-A98FE3614086}"/>
    <dgm:cxn modelId="{7F898155-530E-4A51-B94D-2F0790AE221F}" type="presOf" srcId="{D2FEE4D8-FE5B-433B-8535-5E2CCBF4778F}" destId="{A6B7F61D-5DF3-4FC7-9943-76678C2C1CE8}" srcOrd="0" destOrd="0" presId="urn:microsoft.com/office/officeart/2024/3/layout/hArchList1"/>
    <dgm:cxn modelId="{D46F6B8C-3866-4524-9F82-16794ACCDE91}" type="presOf" srcId="{62E6B697-BFEA-4BF1-9930-89778D24844C}" destId="{31151301-2FAB-4303-A9EE-4324A655EF69}" srcOrd="0" destOrd="0" presId="urn:microsoft.com/office/officeart/2024/3/layout/hArchList1"/>
    <dgm:cxn modelId="{7089D29B-D44F-4A5C-9405-624E8DE24BF9}" type="presOf" srcId="{ED36FF48-FB95-4EB9-B2A5-81DC3D6EF064}" destId="{0DB972EB-ACEB-411F-B9E8-456A9C03E25F}" srcOrd="0" destOrd="0" presId="urn:microsoft.com/office/officeart/2024/3/layout/hArchList1"/>
    <dgm:cxn modelId="{BE782FA2-BC90-479B-B14E-C935BDA7F6B7}" srcId="{C029AF74-A53C-4FF5-AF14-C351BCABA528}" destId="{1E0FF0D4-8206-4F06-9DCA-5855A65D36A2}" srcOrd="0" destOrd="0" parTransId="{BBAD4CCA-7E70-4C35-A6E6-156952840B32}" sibTransId="{F612120F-E457-4F3B-8FB5-6A4C4C5B81B1}"/>
    <dgm:cxn modelId="{665A77A4-CCE5-42F9-AC80-4FBE9E070746}" srcId="{9B3B2219-8F97-4C28-B425-E6916974B354}" destId="{475DCAF1-0970-453D-B408-99D56493DD07}" srcOrd="1" destOrd="0" parTransId="{A04321F4-89BC-454A-B29F-8EC7899B976F}" sibTransId="{62E6B697-BFEA-4BF1-9930-89778D24844C}"/>
    <dgm:cxn modelId="{435F23B5-F0B6-4E83-940C-C8303D767103}" type="presOf" srcId="{7625EB06-B060-48C9-8A0C-EA08F3E40A49}" destId="{DB537DF2-6F24-4B24-90DB-295B67D730CB}" srcOrd="0" destOrd="0" presId="urn:microsoft.com/office/officeart/2024/3/layout/hArchList1"/>
    <dgm:cxn modelId="{C19CE5BF-E45A-401A-B4B6-C02387A0BCAC}" type="presOf" srcId="{475DCAF1-0970-453D-B408-99D56493DD07}" destId="{45183938-44FE-4AB2-A01E-F64E601362F3}" srcOrd="0" destOrd="0" presId="urn:microsoft.com/office/officeart/2024/3/layout/hArchList1"/>
    <dgm:cxn modelId="{AC7023D0-DC77-4554-83C3-73662C09B3B3}" type="presOf" srcId="{9B3B2219-8F97-4C28-B425-E6916974B354}" destId="{01F88447-4918-4473-8DE6-8A424AF9A362}" srcOrd="0" destOrd="0" presId="urn:microsoft.com/office/officeart/2024/3/layout/hArchList1"/>
    <dgm:cxn modelId="{A1944AF4-2605-4FFB-AE53-F84929E759AD}" type="presOf" srcId="{C029AF74-A53C-4FF5-AF14-C351BCABA528}" destId="{107247FE-BB17-4F62-BB93-11467C67D632}" srcOrd="0" destOrd="0" presId="urn:microsoft.com/office/officeart/2024/3/layout/hArchList1"/>
    <dgm:cxn modelId="{D82394FB-1614-4C80-B731-50AD72BB3DB7}" srcId="{475DCAF1-0970-453D-B408-99D56493DD07}" destId="{ED36FF48-FB95-4EB9-B2A5-81DC3D6EF064}" srcOrd="0" destOrd="0" parTransId="{52989305-8E3C-44EE-A8FD-434167EB353D}" sibTransId="{4A094C7A-2D1A-49B7-9ECB-D2DD5C5BD376}"/>
    <dgm:cxn modelId="{2A573EFD-F5E2-47BB-A10D-5391C607A2A1}" type="presOf" srcId="{1E0FF0D4-8206-4F06-9DCA-5855A65D36A2}" destId="{0709AC8D-CA6A-4ABA-A2D4-F9C492DFBA67}" srcOrd="0" destOrd="0" presId="urn:microsoft.com/office/officeart/2024/3/layout/hArchList1"/>
    <dgm:cxn modelId="{6608D006-643F-4223-9E0C-0163395CB2CD}" type="presParOf" srcId="{01F88447-4918-4473-8DE6-8A424AF9A362}" destId="{D6FD1B4B-0058-46C2-8EEE-95763572B8EF}" srcOrd="0" destOrd="0" presId="urn:microsoft.com/office/officeart/2024/3/layout/hArchList1"/>
    <dgm:cxn modelId="{9736B1D6-E006-4228-A96F-9C3022E8FB96}" type="presParOf" srcId="{D6FD1B4B-0058-46C2-8EEE-95763572B8EF}" destId="{A6B7F61D-5DF3-4FC7-9943-76678C2C1CE8}" srcOrd="0" destOrd="0" presId="urn:microsoft.com/office/officeart/2024/3/layout/hArchList1"/>
    <dgm:cxn modelId="{88227FE8-210D-4F8D-BDCA-00DFD8585214}" type="presParOf" srcId="{D6FD1B4B-0058-46C2-8EEE-95763572B8EF}" destId="{DB537DF2-6F24-4B24-90DB-295B67D730CB}" srcOrd="1" destOrd="0" presId="urn:microsoft.com/office/officeart/2024/3/layout/hArchList1"/>
    <dgm:cxn modelId="{924DE214-F860-40E2-B31A-CB48AC685A3F}" type="presParOf" srcId="{01F88447-4918-4473-8DE6-8A424AF9A362}" destId="{E18349CC-BEA6-41B8-9D93-0832502E6329}" srcOrd="1" destOrd="0" presId="urn:microsoft.com/office/officeart/2024/3/layout/hArchList1"/>
    <dgm:cxn modelId="{AAA8B810-C008-4D20-88A5-C072549371CB}" type="presParOf" srcId="{01F88447-4918-4473-8DE6-8A424AF9A362}" destId="{FE685AFD-3895-42D0-8AD2-60DE91E89EE5}" srcOrd="2" destOrd="0" presId="urn:microsoft.com/office/officeart/2024/3/layout/hArchList1"/>
    <dgm:cxn modelId="{C76CA432-2A0C-4FCA-ABEB-877946F91801}" type="presParOf" srcId="{FE685AFD-3895-42D0-8AD2-60DE91E89EE5}" destId="{45183938-44FE-4AB2-A01E-F64E601362F3}" srcOrd="0" destOrd="0" presId="urn:microsoft.com/office/officeart/2024/3/layout/hArchList1"/>
    <dgm:cxn modelId="{A6C9AACF-7A92-42EC-81BE-5CDF73500A26}" type="presParOf" srcId="{FE685AFD-3895-42D0-8AD2-60DE91E89EE5}" destId="{0DB972EB-ACEB-411F-B9E8-456A9C03E25F}" srcOrd="1" destOrd="0" presId="urn:microsoft.com/office/officeart/2024/3/layout/hArchList1"/>
    <dgm:cxn modelId="{02C45B54-2E2B-4957-897C-50BD943D5BCA}" type="presParOf" srcId="{01F88447-4918-4473-8DE6-8A424AF9A362}" destId="{31151301-2FAB-4303-A9EE-4324A655EF69}" srcOrd="3" destOrd="0" presId="urn:microsoft.com/office/officeart/2024/3/layout/hArchList1"/>
    <dgm:cxn modelId="{2CB6FC54-08F2-4C67-AA16-C7BF7C8B8AC8}" type="presParOf" srcId="{01F88447-4918-4473-8DE6-8A424AF9A362}" destId="{65826D3F-D952-4754-B66D-3330F2191F97}" srcOrd="4" destOrd="0" presId="urn:microsoft.com/office/officeart/2024/3/layout/hArchList1"/>
    <dgm:cxn modelId="{8C9F0AC5-4E02-427A-9EBB-579684AD0B2F}" type="presParOf" srcId="{65826D3F-D952-4754-B66D-3330F2191F97}" destId="{107247FE-BB17-4F62-BB93-11467C67D632}" srcOrd="0" destOrd="0" presId="urn:microsoft.com/office/officeart/2024/3/layout/hArchList1"/>
    <dgm:cxn modelId="{1067044A-D3AC-4F67-8ADA-2B67A7E7BAC3}" type="presParOf" srcId="{65826D3F-D952-4754-B66D-3330F2191F97}" destId="{0709AC8D-CA6A-4ABA-A2D4-F9C492DFBA6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B7F61D-5DF3-4FC7-9943-76678C2C1CE8}">
      <dsp:nvSpPr>
        <dsp:cNvPr id="0" name=""/>
        <dsp:cNvSpPr/>
      </dsp:nvSpPr>
      <dsp:spPr>
        <a:xfrm>
          <a:off x="0" y="0"/>
          <a:ext cx="3568855" cy="370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Invitation to Investors</a:t>
          </a:r>
        </a:p>
      </dsp:txBody>
      <dsp:txXfrm>
        <a:off x="0" y="0"/>
        <a:ext cx="3568855" cy="370014"/>
      </dsp:txXfrm>
    </dsp:sp>
    <dsp:sp modelId="{DB537DF2-6F24-4B24-90DB-295B67D730CB}">
      <dsp:nvSpPr>
        <dsp:cNvPr id="0" name=""/>
        <dsp:cNvSpPr/>
      </dsp:nvSpPr>
      <dsp:spPr>
        <a:xfrm>
          <a:off x="0" y="370014"/>
          <a:ext cx="3568855" cy="333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AetherInc invites investors and partners to support privacy-first AI innovations in legal technology.</a:t>
          </a:r>
        </a:p>
      </dsp:txBody>
      <dsp:txXfrm>
        <a:off x="0" y="370014"/>
        <a:ext cx="3568855" cy="3330127"/>
      </dsp:txXfrm>
    </dsp:sp>
    <dsp:sp modelId="{45183938-44FE-4AB2-A01E-F64E601362F3}">
      <dsp:nvSpPr>
        <dsp:cNvPr id="0" name=""/>
        <dsp:cNvSpPr/>
      </dsp:nvSpPr>
      <dsp:spPr>
        <a:xfrm>
          <a:off x="3925740" y="0"/>
          <a:ext cx="3568855" cy="370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Focus on Security and Compliance</a:t>
          </a:r>
        </a:p>
      </dsp:txBody>
      <dsp:txXfrm>
        <a:off x="3925740" y="0"/>
        <a:ext cx="3568855" cy="370014"/>
      </dsp:txXfrm>
    </dsp:sp>
    <dsp:sp modelId="{0DB972EB-ACEB-411F-B9E8-456A9C03E25F}">
      <dsp:nvSpPr>
        <dsp:cNvPr id="0" name=""/>
        <dsp:cNvSpPr/>
      </dsp:nvSpPr>
      <dsp:spPr>
        <a:xfrm>
          <a:off x="3925740" y="370014"/>
          <a:ext cx="3568855" cy="333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initiative emphasizes security, compliance, and efficiency in modern legal workflows.</a:t>
          </a:r>
        </a:p>
      </dsp:txBody>
      <dsp:txXfrm>
        <a:off x="3925740" y="370014"/>
        <a:ext cx="3568855" cy="3330127"/>
      </dsp:txXfrm>
    </dsp:sp>
    <dsp:sp modelId="{107247FE-BB17-4F62-BB93-11467C67D632}">
      <dsp:nvSpPr>
        <dsp:cNvPr id="0" name=""/>
        <dsp:cNvSpPr/>
      </dsp:nvSpPr>
      <dsp:spPr>
        <a:xfrm>
          <a:off x="7851481" y="0"/>
          <a:ext cx="3568855" cy="370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Market Leadership Potential</a:t>
          </a:r>
        </a:p>
      </dsp:txBody>
      <dsp:txXfrm>
        <a:off x="7851481" y="0"/>
        <a:ext cx="3568855" cy="370014"/>
      </dsp:txXfrm>
    </dsp:sp>
    <dsp:sp modelId="{0709AC8D-CA6A-4ABA-A2D4-F9C492DFBA67}">
      <dsp:nvSpPr>
        <dsp:cNvPr id="0" name=""/>
        <dsp:cNvSpPr/>
      </dsp:nvSpPr>
      <dsp:spPr>
        <a:xfrm>
          <a:off x="7851481" y="370014"/>
          <a:ext cx="3568855" cy="33301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AetherInc aims to lead the LegalTech market with innovative AI products and a clear vision.</a:t>
          </a:r>
        </a:p>
      </dsp:txBody>
      <dsp:txXfrm>
        <a:off x="7851481" y="370014"/>
        <a:ext cx="3568855" cy="3330127"/>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4EE7DE-743D-47F7-AE9F-82BDFC2FD5E1}" type="datetimeFigureOut">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D9A51B-FA4E-4234-B684-01272E9E9BD3}" type="slidenum">
              <a:t>‹#›</a:t>
            </a:fld>
            <a:endParaRPr lang="en-US"/>
          </a:p>
        </p:txBody>
      </p:sp>
    </p:spTree>
    <p:extLst>
      <p:ext uri="{BB962C8B-B14F-4D97-AF65-F5344CB8AC3E}">
        <p14:creationId xmlns:p14="http://schemas.microsoft.com/office/powerpoint/2010/main" val="2129356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D7E53A83-D3CD-4C42-9773-F6E0346BD6F6}" type="slidenum">
              <a:t>1</a:t>
            </a:fld>
            <a:endParaRPr lang="en-US"/>
          </a:p>
        </p:txBody>
      </p:sp>
    </p:spTree>
    <p:extLst>
      <p:ext uri="{BB962C8B-B14F-4D97-AF65-F5344CB8AC3E}">
        <p14:creationId xmlns:p14="http://schemas.microsoft.com/office/powerpoint/2010/main" val="3372157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Company Overview and Vision</a:t>
            </a:r>
          </a:p>
        </p:txBody>
      </p:sp>
      <p:sp>
        <p:nvSpPr>
          <p:cNvPr id="4" name="Slide Number Placeholder 3"/>
          <p:cNvSpPr>
            <a:spLocks noGrp="1"/>
          </p:cNvSpPr>
          <p:nvPr>
            <p:ph type="sldNum" sz="quarter" idx="5"/>
          </p:nvPr>
        </p:nvSpPr>
        <p:spPr/>
        <p:txBody>
          <a:bodyPr/>
          <a:lstStyle/>
          <a:p>
            <a:fld id="{D7E53A83-D3CD-4C42-9773-F6E0346BD6F6}" type="slidenum">
              <a:t>2</a:t>
            </a:fld>
            <a:endParaRPr lang="en-US"/>
          </a:p>
        </p:txBody>
      </p:sp>
    </p:spTree>
    <p:extLst>
      <p:ext uri="{BB962C8B-B14F-4D97-AF65-F5344CB8AC3E}">
        <p14:creationId xmlns:p14="http://schemas.microsoft.com/office/powerpoint/2010/main" val="2559840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AetherInc is a Glasgow-based startup founded in 2025 with a mission to revolutionize legal technology through privacy-first AI solutions. Its flagship product, GURU, is designed as an AI paralegal assistant that operates entirely on-device, eliminating the need for cloud-based processing and thereby mitigating security and compliance risks. The company’s vision is to empower legal firms with tools that ensure confidentiality, efficiency, and compliance without compromising data sovereignty. By focusing on local AI processing, AetherInc addresses the growing concerns around data breaches and regulatory compliance in the legal sector. The startup aims to become a trusted partner for law firms seeking innovative solutions that align with ethical and privacy standards. This introduction sets the stage for understanding how AetherInc differentiates itself in a competitive market by prioritizing privacy and predictable cost structures.</a:t>
            </a:r>
          </a:p>
        </p:txBody>
      </p:sp>
      <p:sp>
        <p:nvSpPr>
          <p:cNvPr id="4" name="Slide Number Placeholder 3"/>
          <p:cNvSpPr>
            <a:spLocks noGrp="1"/>
          </p:cNvSpPr>
          <p:nvPr>
            <p:ph type="sldNum" sz="quarter" idx="5"/>
          </p:nvPr>
        </p:nvSpPr>
        <p:spPr/>
        <p:txBody>
          <a:bodyPr/>
          <a:lstStyle/>
          <a:p>
            <a:fld id="{D7E53A83-D3CD-4C42-9773-F6E0346BD6F6}" type="slidenum">
              <a:t>3</a:t>
            </a:fld>
            <a:endParaRPr lang="en-US"/>
          </a:p>
        </p:txBody>
      </p:sp>
    </p:spTree>
    <p:extLst>
      <p:ext uri="{BB962C8B-B14F-4D97-AF65-F5344CB8AC3E}">
        <p14:creationId xmlns:p14="http://schemas.microsoft.com/office/powerpoint/2010/main" val="12050822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Challenges in Legal Workflows, Market Potential for Legal AI</a:t>
            </a:r>
          </a:p>
        </p:txBody>
      </p:sp>
      <p:sp>
        <p:nvSpPr>
          <p:cNvPr id="4" name="Slide Number Placeholder 3"/>
          <p:cNvSpPr>
            <a:spLocks noGrp="1"/>
          </p:cNvSpPr>
          <p:nvPr>
            <p:ph type="sldNum" sz="quarter" idx="5"/>
          </p:nvPr>
        </p:nvSpPr>
        <p:spPr/>
        <p:txBody>
          <a:bodyPr/>
          <a:lstStyle/>
          <a:p>
            <a:fld id="{D7E53A83-D3CD-4C42-9773-F6E0346BD6F6}" type="slidenum">
              <a:t>4</a:t>
            </a:fld>
            <a:endParaRPr lang="en-US"/>
          </a:p>
        </p:txBody>
      </p:sp>
    </p:spTree>
    <p:extLst>
      <p:ext uri="{BB962C8B-B14F-4D97-AF65-F5344CB8AC3E}">
        <p14:creationId xmlns:p14="http://schemas.microsoft.com/office/powerpoint/2010/main" val="33238539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Legal firms face mounting challenges including overwhelming document review workloads, complex compliance requirements, and escalating operational costs. Traditional manual processes are time-consuming and prone to human error, while existing cloud-based AI solutions introduce significant security vulnerabilities and regulatory risks. Sensitive client data uploaded to external servers can lead to breaches and non-compliance with data protection laws. These issues create an urgent need for secure, efficient, and cost-effective solutions tailored to the legal industry. The pain points extend beyond security to include unpredictability in pricing models and lack of control over data handling, making current solutions inadequate for firms that prioritize confidentiality and compliance.</a:t>
            </a:r>
          </a:p>
        </p:txBody>
      </p:sp>
      <p:sp>
        <p:nvSpPr>
          <p:cNvPr id="4" name="Slide Number Placeholder 3"/>
          <p:cNvSpPr>
            <a:spLocks noGrp="1"/>
          </p:cNvSpPr>
          <p:nvPr>
            <p:ph type="sldNum" sz="quarter" idx="5"/>
          </p:nvPr>
        </p:nvSpPr>
        <p:spPr/>
        <p:txBody>
          <a:bodyPr/>
          <a:lstStyle/>
          <a:p>
            <a:fld id="{D7E53A83-D3CD-4C42-9773-F6E0346BD6F6}" type="slidenum">
              <a:t>5</a:t>
            </a:fld>
            <a:endParaRPr lang="en-US"/>
          </a:p>
        </p:txBody>
      </p:sp>
    </p:spTree>
    <p:extLst>
      <p:ext uri="{BB962C8B-B14F-4D97-AF65-F5344CB8AC3E}">
        <p14:creationId xmlns:p14="http://schemas.microsoft.com/office/powerpoint/2010/main" val="2030150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LegalTech market is experiencing rapid growth, projected to reach billions of pounds globally by 2030. This surge is driven by increasing demand for automation, efficiency, and compliance in legal operations. AI-powered tools are becoming essential for law firms, corporate legal departments, and compliance teams seeking to streamline processes and reduce costs. However, the market lacks robust solutions that prioritize privacy and on-device processing. AetherInc’s GURU addresses this gap, positioning the company to capture a significant share of the market by offering a unique value proposition: privacy-by-design architecture combined with predictable, non-scaling costs. This approach appeals to firms wary of cloud dependency and unpredictable subscription fees, creating a strong competitive advantage.</a:t>
            </a:r>
          </a:p>
        </p:txBody>
      </p:sp>
      <p:sp>
        <p:nvSpPr>
          <p:cNvPr id="4" name="Slide Number Placeholder 3"/>
          <p:cNvSpPr>
            <a:spLocks noGrp="1"/>
          </p:cNvSpPr>
          <p:nvPr>
            <p:ph type="sldNum" sz="quarter" idx="5"/>
          </p:nvPr>
        </p:nvSpPr>
        <p:spPr/>
        <p:txBody>
          <a:bodyPr/>
          <a:lstStyle/>
          <a:p>
            <a:fld id="{D7E53A83-D3CD-4C42-9773-F6E0346BD6F6}" type="slidenum">
              <a:t>6</a:t>
            </a:fld>
            <a:endParaRPr lang="en-US"/>
          </a:p>
        </p:txBody>
      </p:sp>
    </p:spTree>
    <p:extLst>
      <p:ext uri="{BB962C8B-B14F-4D97-AF65-F5344CB8AC3E}">
        <p14:creationId xmlns:p14="http://schemas.microsoft.com/office/powerpoint/2010/main" val="8137631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GURU: Privacy-First AI Paralegal, Unique Value Proposition</a:t>
            </a:r>
          </a:p>
        </p:txBody>
      </p:sp>
      <p:sp>
        <p:nvSpPr>
          <p:cNvPr id="4" name="Slide Number Placeholder 3"/>
          <p:cNvSpPr>
            <a:spLocks noGrp="1"/>
          </p:cNvSpPr>
          <p:nvPr>
            <p:ph type="sldNum" sz="quarter" idx="5"/>
          </p:nvPr>
        </p:nvSpPr>
        <p:spPr/>
        <p:txBody>
          <a:bodyPr/>
          <a:lstStyle/>
          <a:p>
            <a:fld id="{D7E53A83-D3CD-4C42-9773-F6E0346BD6F6}" type="slidenum">
              <a:t>7</a:t>
            </a:fld>
            <a:endParaRPr lang="en-US"/>
          </a:p>
        </p:txBody>
      </p:sp>
    </p:spTree>
    <p:extLst>
      <p:ext uri="{BB962C8B-B14F-4D97-AF65-F5344CB8AC3E}">
        <p14:creationId xmlns:p14="http://schemas.microsoft.com/office/powerpoint/2010/main" val="15550273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GURU is an AI-powered paralegal solution designed to operate entirely on-device, ensuring complete data sovereignty and eliminating reliance on cloud infrastructure. Key features include automated document review, compliance checks, case law research, and risk analysis—all performed locally for maximum security. This architecture guarantees that sensitive client information never leaves the firm’s premises, addressing critical concerns around confidentiality and regulatory compliance. GURU’s offline capability also ensures uninterrupted functionality, even in environments with limited connectivity. By combining advanced AI capabilities with a privacy-first approach, GURU delivers efficiency without compromising trust, making it an ideal solution for modern legal practices.</a:t>
            </a:r>
          </a:p>
        </p:txBody>
      </p:sp>
      <p:sp>
        <p:nvSpPr>
          <p:cNvPr id="4" name="Slide Number Placeholder 3"/>
          <p:cNvSpPr>
            <a:spLocks noGrp="1"/>
          </p:cNvSpPr>
          <p:nvPr>
            <p:ph type="sldNum" sz="quarter" idx="5"/>
          </p:nvPr>
        </p:nvSpPr>
        <p:spPr/>
        <p:txBody>
          <a:bodyPr/>
          <a:lstStyle/>
          <a:p>
            <a:fld id="{D7E53A83-D3CD-4C42-9773-F6E0346BD6F6}" type="slidenum">
              <a:t>8</a:t>
            </a:fld>
            <a:endParaRPr lang="en-US"/>
          </a:p>
        </p:txBody>
      </p:sp>
    </p:spTree>
    <p:extLst>
      <p:ext uri="{BB962C8B-B14F-4D97-AF65-F5344CB8AC3E}">
        <p14:creationId xmlns:p14="http://schemas.microsoft.com/office/powerpoint/2010/main" val="1719747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AetherInc differentiates itself through its privacy-by-design architecture, which contrasts sharply with the cloud-dependent models of existing competitors. This approach not only enhances security but also provides predictable, non-scaling cost structures, allowing firms to budget effectively without fear of escalating fees. Additional differentiators include enterprise-grade security protocols, modular hardware options for scalability, and compliance with stringent data protection regulations. These features collectively position AetherInc as a leader in ethical AI deployment for the legal sector, offering a solution that aligns with both operational efficiency and regulatory obligations.</a:t>
            </a:r>
          </a:p>
        </p:txBody>
      </p:sp>
      <p:sp>
        <p:nvSpPr>
          <p:cNvPr id="4" name="Slide Number Placeholder 3"/>
          <p:cNvSpPr>
            <a:spLocks noGrp="1"/>
          </p:cNvSpPr>
          <p:nvPr>
            <p:ph type="sldNum" sz="quarter" idx="5"/>
          </p:nvPr>
        </p:nvSpPr>
        <p:spPr/>
        <p:txBody>
          <a:bodyPr/>
          <a:lstStyle/>
          <a:p>
            <a:fld id="{D7E53A83-D3CD-4C42-9773-F6E0346BD6F6}" type="slidenum">
              <a:t>9</a:t>
            </a:fld>
            <a:endParaRPr lang="en-US"/>
          </a:p>
        </p:txBody>
      </p:sp>
    </p:spTree>
    <p:extLst>
      <p:ext uri="{BB962C8B-B14F-4D97-AF65-F5344CB8AC3E}">
        <p14:creationId xmlns:p14="http://schemas.microsoft.com/office/powerpoint/2010/main" val="316566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Revenue Streams, Competitive Advantage</a:t>
            </a:r>
          </a:p>
        </p:txBody>
      </p:sp>
      <p:sp>
        <p:nvSpPr>
          <p:cNvPr id="4" name="Slide Number Placeholder 3"/>
          <p:cNvSpPr>
            <a:spLocks noGrp="1"/>
          </p:cNvSpPr>
          <p:nvPr>
            <p:ph type="sldNum" sz="quarter" idx="5"/>
          </p:nvPr>
        </p:nvSpPr>
        <p:spPr/>
        <p:txBody>
          <a:bodyPr/>
          <a:lstStyle/>
          <a:p>
            <a:fld id="{D7E53A83-D3CD-4C42-9773-F6E0346BD6F6}" type="slidenum">
              <a:t>10</a:t>
            </a:fld>
            <a:endParaRPr lang="en-US"/>
          </a:p>
        </p:txBody>
      </p:sp>
    </p:spTree>
    <p:extLst>
      <p:ext uri="{BB962C8B-B14F-4D97-AF65-F5344CB8AC3E}">
        <p14:creationId xmlns:p14="http://schemas.microsoft.com/office/powerpoint/2010/main" val="37310320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AetherInc’s revenue model is designed for sustainability and transparency. It includes perpetual software licenses that provide long-term value to clients, hardware leases for modular AI devices, and optional support and consultancy services for customization and integration. This structure ensures predictable costs and avoids the variable pricing models common in cloud-based solutions. By offering flexible options tailored to different firm sizes and needs, AetherInc creates a compelling proposition for legal organizations seeking cost-effective and secure AI solutions.</a:t>
            </a:r>
          </a:p>
        </p:txBody>
      </p:sp>
      <p:sp>
        <p:nvSpPr>
          <p:cNvPr id="4" name="Slide Number Placeholder 3"/>
          <p:cNvSpPr>
            <a:spLocks noGrp="1"/>
          </p:cNvSpPr>
          <p:nvPr>
            <p:ph type="sldNum" sz="quarter" idx="5"/>
          </p:nvPr>
        </p:nvSpPr>
        <p:spPr/>
        <p:txBody>
          <a:bodyPr/>
          <a:lstStyle/>
          <a:p>
            <a:fld id="{D7E53A83-D3CD-4C42-9773-F6E0346BD6F6}" type="slidenum">
              <a:t>11</a:t>
            </a:fld>
            <a:endParaRPr lang="en-US"/>
          </a:p>
        </p:txBody>
      </p:sp>
    </p:spTree>
    <p:extLst>
      <p:ext uri="{BB962C8B-B14F-4D97-AF65-F5344CB8AC3E}">
        <p14:creationId xmlns:p14="http://schemas.microsoft.com/office/powerpoint/2010/main" val="37934931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competitive landscape in LegalTech is dominated by cloud-based AI providers that expose firms to security risks and unpredictable costs. AetherInc’s GURU stands out by delivering on-device processing, privacy-by-design architecture, and offline functionality. These features not only mitigate compliance risks but also provide firms with full control over their data. Combined with a transparent pricing model and enterprise-grade security, AetherInc offers a solution that addresses the shortcomings of existing products, creating a strong market position and long-term growth potential.</a:t>
            </a:r>
          </a:p>
        </p:txBody>
      </p:sp>
      <p:sp>
        <p:nvSpPr>
          <p:cNvPr id="4" name="Slide Number Placeholder 3"/>
          <p:cNvSpPr>
            <a:spLocks noGrp="1"/>
          </p:cNvSpPr>
          <p:nvPr>
            <p:ph type="sldNum" sz="quarter" idx="5"/>
          </p:nvPr>
        </p:nvSpPr>
        <p:spPr/>
        <p:txBody>
          <a:bodyPr/>
          <a:lstStyle/>
          <a:p>
            <a:fld id="{D7E53A83-D3CD-4C42-9773-F6E0346BD6F6}" type="slidenum">
              <a:t>12</a:t>
            </a:fld>
            <a:endParaRPr lang="en-US"/>
          </a:p>
        </p:txBody>
      </p:sp>
    </p:spTree>
    <p:extLst>
      <p:ext uri="{BB962C8B-B14F-4D97-AF65-F5344CB8AC3E}">
        <p14:creationId xmlns:p14="http://schemas.microsoft.com/office/powerpoint/2010/main" val="16269469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Funding Requirements, Roadmap and Milestones</a:t>
            </a:r>
          </a:p>
        </p:txBody>
      </p:sp>
      <p:sp>
        <p:nvSpPr>
          <p:cNvPr id="4" name="Slide Number Placeholder 3"/>
          <p:cNvSpPr>
            <a:spLocks noGrp="1"/>
          </p:cNvSpPr>
          <p:nvPr>
            <p:ph type="sldNum" sz="quarter" idx="5"/>
          </p:nvPr>
        </p:nvSpPr>
        <p:spPr/>
        <p:txBody>
          <a:bodyPr/>
          <a:lstStyle/>
          <a:p>
            <a:fld id="{D7E53A83-D3CD-4C42-9773-F6E0346BD6F6}" type="slidenum">
              <a:t>13</a:t>
            </a:fld>
            <a:endParaRPr lang="en-US"/>
          </a:p>
        </p:txBody>
      </p:sp>
    </p:spTree>
    <p:extLst>
      <p:ext uri="{BB962C8B-B14F-4D97-AF65-F5344CB8AC3E}">
        <p14:creationId xmlns:p14="http://schemas.microsoft.com/office/powerpoint/2010/main" val="13640079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AetherInc is seeking £500,000 in pre-seed funding to accelerate its growth trajectory. The funds will be allocated to expanding the development team, enhancing product capabilities, and deploying pilot programs with select legal firms. This investment will enable the company to validate its solution in real-world environments, gather critical feedback, and refine its offerings for broader market adoption. By securing this funding, AetherInc aims to position itself as a frontrunner in privacy-first LegalTech solutions.</a:t>
            </a:r>
          </a:p>
        </p:txBody>
      </p:sp>
      <p:sp>
        <p:nvSpPr>
          <p:cNvPr id="4" name="Slide Number Placeholder 3"/>
          <p:cNvSpPr>
            <a:spLocks noGrp="1"/>
          </p:cNvSpPr>
          <p:nvPr>
            <p:ph type="sldNum" sz="quarter" idx="5"/>
          </p:nvPr>
        </p:nvSpPr>
        <p:spPr/>
        <p:txBody>
          <a:bodyPr/>
          <a:lstStyle/>
          <a:p>
            <a:fld id="{D7E53A83-D3CD-4C42-9773-F6E0346BD6F6}" type="slidenum">
              <a:t>14</a:t>
            </a:fld>
            <a:endParaRPr lang="en-US"/>
          </a:p>
        </p:txBody>
      </p:sp>
    </p:spTree>
    <p:extLst>
      <p:ext uri="{BB962C8B-B14F-4D97-AF65-F5344CB8AC3E}">
        <p14:creationId xmlns:p14="http://schemas.microsoft.com/office/powerpoint/2010/main" val="329546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roadmap for AetherInc includes key milestones designed to ensure rapid and sustainable growth. In the first quarter, the focus will be on team expansion and finalizing product development. The second quarter will see pilot deployments with partner law firms, followed by product refinement based on user feedback in the third quarter. By the fourth quarter, AetherInc plans to launch its solution to the broader market, supported by strategic partnerships and targeted marketing campaigns. This phased approach ensures that the company builds a robust foundation for long-term success while delivering immediate value to early adopters.</a:t>
            </a:r>
          </a:p>
        </p:txBody>
      </p:sp>
      <p:sp>
        <p:nvSpPr>
          <p:cNvPr id="4" name="Slide Number Placeholder 3"/>
          <p:cNvSpPr>
            <a:spLocks noGrp="1"/>
          </p:cNvSpPr>
          <p:nvPr>
            <p:ph type="sldNum" sz="quarter" idx="5"/>
          </p:nvPr>
        </p:nvSpPr>
        <p:spPr/>
        <p:txBody>
          <a:bodyPr/>
          <a:lstStyle/>
          <a:p>
            <a:fld id="{D7E53A83-D3CD-4C42-9773-F6E0346BD6F6}" type="slidenum">
              <a:t>15</a:t>
            </a:fld>
            <a:endParaRPr lang="en-US"/>
          </a:p>
        </p:txBody>
      </p:sp>
    </p:spTree>
    <p:extLst>
      <p:ext uri="{BB962C8B-B14F-4D97-AF65-F5344CB8AC3E}">
        <p14:creationId xmlns:p14="http://schemas.microsoft.com/office/powerpoint/2010/main" val="3566877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Call to Action</a:t>
            </a:r>
          </a:p>
        </p:txBody>
      </p:sp>
      <p:sp>
        <p:nvSpPr>
          <p:cNvPr id="4" name="Slide Number Placeholder 3"/>
          <p:cNvSpPr>
            <a:spLocks noGrp="1"/>
          </p:cNvSpPr>
          <p:nvPr>
            <p:ph type="sldNum" sz="quarter" idx="5"/>
          </p:nvPr>
        </p:nvSpPr>
        <p:spPr/>
        <p:txBody>
          <a:bodyPr/>
          <a:lstStyle/>
          <a:p>
            <a:fld id="{D7E53A83-D3CD-4C42-9773-F6E0346BD6F6}" type="slidenum">
              <a:t>16</a:t>
            </a:fld>
            <a:endParaRPr lang="en-US"/>
          </a:p>
        </p:txBody>
      </p:sp>
    </p:spTree>
    <p:extLst>
      <p:ext uri="{BB962C8B-B14F-4D97-AF65-F5344CB8AC3E}">
        <p14:creationId xmlns:p14="http://schemas.microsoft.com/office/powerpoint/2010/main" val="1745014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AetherInc invites investors and strategic partners to join in redefining the future of legal technology through privacy-first AI solutions. By supporting this initiative, stakeholders will contribute to a transformative approach that prioritizes security, compliance, and efficiency in legal workflows. With a clear vision, innovative product, and strong market potential, AetherInc is poised to become a leader in the LegalTech space. Contact us at aetherinc.xyz to learn more and explore partnership opportunities.</a:t>
            </a:r>
          </a:p>
        </p:txBody>
      </p:sp>
      <p:sp>
        <p:nvSpPr>
          <p:cNvPr id="4" name="Slide Number Placeholder 3"/>
          <p:cNvSpPr>
            <a:spLocks noGrp="1"/>
          </p:cNvSpPr>
          <p:nvPr>
            <p:ph type="sldNum" sz="quarter" idx="5"/>
          </p:nvPr>
        </p:nvSpPr>
        <p:spPr/>
        <p:txBody>
          <a:bodyPr/>
          <a:lstStyle/>
          <a:p>
            <a:fld id="{D7E53A83-D3CD-4C42-9773-F6E0346BD6F6}" type="slidenum">
              <a:t>17</a:t>
            </a:fld>
            <a:endParaRPr lang="en-US"/>
          </a:p>
        </p:txBody>
      </p:sp>
    </p:spTree>
    <p:extLst>
      <p:ext uri="{BB962C8B-B14F-4D97-AF65-F5344CB8AC3E}">
        <p14:creationId xmlns:p14="http://schemas.microsoft.com/office/powerpoint/2010/main" val="12891596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BBB8170F-0370-4A38-8BF3-83D69476AE62}"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318326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20D15516-589F-487D-BF51-9635DCEA90D5}" type="datetime1">
              <a:rPr lang="en-US" smtClean="0"/>
              <a:t>11/24/2025</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8336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6236208" cy="3694176"/>
          </a:xfrm>
        </p:spPr>
        <p:txBody>
          <a:bodyPr vert="horz" lIns="91440" tIns="45720" rIns="91440" bIns="45720" rtlCol="0" anchor="t">
            <a:normAutofit/>
          </a:bodyPr>
          <a:lstStyle>
            <a:lvl1pPr>
              <a:defRPr lang="en-US" sz="88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6236208"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413504" y="207982"/>
            <a:ext cx="1682496" cy="413360"/>
          </a:xfrm>
        </p:spPr>
        <p:txBody>
          <a:bodyPr/>
          <a:lstStyle>
            <a:lvl1pPr>
              <a:defRPr>
                <a:solidFill>
                  <a:schemeClr val="tx2"/>
                </a:solidFill>
              </a:defRPr>
            </a:lvl1pPr>
          </a:lstStyle>
          <a:p>
            <a:fld id="{F7E6234A-55DB-493D-B5E3-FA55E3CA245B}"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6009801" y="207982"/>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278624" y="0"/>
            <a:ext cx="4913373" cy="6858000"/>
          </a:xfrm>
          <a:blipFill>
            <a:blip r:embed="rId2">
              <a:alphaModFix amt="80000"/>
            </a:blip>
            <a:stretch>
              <a:fillRect/>
            </a:stretch>
          </a:blipFill>
        </p:spPr>
        <p:txBody>
          <a:bodyPr/>
          <a:lstStyle>
            <a:lvl1pPr marL="0" indent="0">
              <a:buNone/>
              <a:defRPr/>
            </a:lvl1pPr>
          </a:lstStyle>
          <a:p>
            <a:r>
              <a:rPr lang="en-US"/>
              <a:t> </a:t>
            </a:r>
          </a:p>
        </p:txBody>
      </p:sp>
      <p:cxnSp>
        <p:nvCxnSpPr>
          <p:cNvPr id="7" name="Straight Connector 6">
            <a:extLst>
              <a:ext uri="{FF2B5EF4-FFF2-40B4-BE49-F238E27FC236}">
                <a16:creationId xmlns:a16="http://schemas.microsoft.com/office/drawing/2014/main" id="{87083F37-054B-54D7-2AD5-6DFFCC79603C}"/>
              </a:ext>
            </a:extLst>
          </p:cNvPr>
          <p:cNvCxnSpPr>
            <a:cxnSpLocks/>
          </p:cNvCxnSpPr>
          <p:nvPr/>
        </p:nvCxnSpPr>
        <p:spPr>
          <a:xfrm>
            <a:off x="0" y="5287974"/>
            <a:ext cx="72776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A99AB8D9-761C-35FC-CA6D-1317D71DF6BE}"/>
              </a:ext>
            </a:extLst>
          </p:cNvPr>
          <p:cNvCxnSpPr>
            <a:cxnSpLocks/>
          </p:cNvCxnSpPr>
          <p:nvPr/>
        </p:nvCxnSpPr>
        <p:spPr>
          <a:xfrm flipV="1">
            <a:off x="7277621" y="0"/>
            <a:ext cx="0" cy="6858001"/>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72453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BD5D1244-0536-4076-95F8-65E3144966FF}"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6876234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with Picture 4">
    <p:spTree>
      <p:nvGrpSpPr>
        <p:cNvPr id="1" name=""/>
        <p:cNvGrpSpPr/>
        <p:nvPr/>
      </p:nvGrpSpPr>
      <p:grpSpPr>
        <a:xfrm>
          <a:off x="0" y="0"/>
          <a:ext cx="0" cy="0"/>
          <a:chOff x="0" y="0"/>
          <a:chExt cx="0" cy="0"/>
        </a:xfrm>
      </p:grpSpPr>
      <p:sp>
        <p:nvSpPr>
          <p:cNvPr id="8" name="Picture Placeholder 10">
            <a:extLst>
              <a:ext uri="{FF2B5EF4-FFF2-40B4-BE49-F238E27FC236}">
                <a16:creationId xmlns:a16="http://schemas.microsoft.com/office/drawing/2014/main" id="{AEB3F954-B0A7-AD5D-A897-AAA57CEEA771}"/>
              </a:ext>
            </a:extLst>
          </p:cNvPr>
          <p:cNvSpPr>
            <a:spLocks noGrp="1"/>
          </p:cNvSpPr>
          <p:nvPr>
            <p:ph type="pic" sz="quarter" idx="13" hasCustomPrompt="1"/>
          </p:nvPr>
        </p:nvSpPr>
        <p:spPr>
          <a:xfrm>
            <a:off x="0" y="0"/>
            <a:ext cx="12198096" cy="6858000"/>
          </a:xfrm>
          <a:custGeom>
            <a:avLst/>
            <a:gdLst>
              <a:gd name="connsiteX0" fmla="*/ 6914322 w 12198096"/>
              <a:gd name="connsiteY0" fmla="*/ 789558 h 6858000"/>
              <a:gd name="connsiteX1" fmla="*/ 6914322 w 12198096"/>
              <a:gd name="connsiteY1" fmla="*/ 6106620 h 6858000"/>
              <a:gd name="connsiteX2" fmla="*/ 11547659 w 12198096"/>
              <a:gd name="connsiteY2" fmla="*/ 6106620 h 6858000"/>
              <a:gd name="connsiteX3" fmla="*/ 11547659 w 12198096"/>
              <a:gd name="connsiteY3" fmla="*/ 789558 h 6858000"/>
              <a:gd name="connsiteX4" fmla="*/ 0 w 12198096"/>
              <a:gd name="connsiteY4" fmla="*/ 0 h 6858000"/>
              <a:gd name="connsiteX5" fmla="*/ 12198096 w 12198096"/>
              <a:gd name="connsiteY5" fmla="*/ 0 h 6858000"/>
              <a:gd name="connsiteX6" fmla="*/ 12198096 w 12198096"/>
              <a:gd name="connsiteY6" fmla="*/ 6858000 h 6858000"/>
              <a:gd name="connsiteX7" fmla="*/ 0 w 121980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8096" h="6858000">
                <a:moveTo>
                  <a:pt x="6914322" y="789558"/>
                </a:moveTo>
                <a:lnTo>
                  <a:pt x="6914322" y="6106620"/>
                </a:lnTo>
                <a:lnTo>
                  <a:pt x="11547659" y="6106620"/>
                </a:lnTo>
                <a:lnTo>
                  <a:pt x="11547659" y="789558"/>
                </a:lnTo>
                <a:close/>
                <a:moveTo>
                  <a:pt x="0" y="0"/>
                </a:moveTo>
                <a:lnTo>
                  <a:pt x="12198096" y="0"/>
                </a:lnTo>
                <a:lnTo>
                  <a:pt x="121980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6914324" y="789558"/>
            <a:ext cx="4633337" cy="4212210"/>
          </a:xfrm>
          <a:solidFill>
            <a:schemeClr val="bg2"/>
          </a:solidFill>
          <a:ln>
            <a:solidFill>
              <a:schemeClr val="tx2"/>
            </a:solidFill>
          </a:ln>
        </p:spPr>
        <p:txBody>
          <a:bodyPr vert="horz" lIns="320040" tIns="347472" rIns="22860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6914322" y="4994648"/>
            <a:ext cx="4633338" cy="1111972"/>
          </a:xfrm>
          <a:solidFill>
            <a:schemeClr val="bg2"/>
          </a:solidFill>
          <a:ln>
            <a:solidFill>
              <a:schemeClr val="tx2"/>
            </a:solidFill>
          </a:ln>
        </p:spPr>
        <p:txBody>
          <a:bodyPr vert="horz" lIns="320040" tIns="45720" rIns="27432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14323" y="207982"/>
            <a:ext cx="2687062" cy="413360"/>
          </a:xfrm>
        </p:spPr>
        <p:txBody>
          <a:bodyPr/>
          <a:lstStyle>
            <a:lvl1pPr>
              <a:defRPr>
                <a:solidFill>
                  <a:srgbClr val="FFFFFF"/>
                </a:solidFill>
                <a:effectLst>
                  <a:outerShdw blurRad="38100" dist="38100" dir="2700000" algn="tl">
                    <a:srgbClr val="000000">
                      <a:alpha val="43137"/>
                    </a:srgbClr>
                  </a:outerShdw>
                </a:effectLst>
              </a:defRPr>
            </a:lvl1pPr>
          </a:lstStyle>
          <a:p>
            <a:fld id="{AC13FD3B-23EF-4174-AD3C-BC50B64D7857}"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3351154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with Picture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5422392" cy="3822192"/>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86400"/>
            <a:ext cx="5422391" cy="978408"/>
          </a:xfrm>
        </p:spPr>
        <p:txBody>
          <a:bodyPr vert="horz" lIns="91440" tIns="45720" rIns="91440" bIns="45720" rtlCol="0" anchor="ctr">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4815840" y="207982"/>
            <a:ext cx="1280160" cy="413360"/>
          </a:xfrm>
        </p:spPr>
        <p:txBody>
          <a:bodyPr/>
          <a:lstStyle/>
          <a:p>
            <a:fld id="{630E96CE-B7D5-4325-A1C8-DFEADC4BE081}"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5982383" y="207982"/>
            <a:ext cx="546447" cy="413360"/>
          </a:xfrm>
        </p:spPr>
        <p:txBody>
          <a:bodyPr/>
          <a:lstStyle/>
          <a:p>
            <a:fld id="{753D0FD4-819D-4187-8797-C35567B41C78}" type="slidenum">
              <a:rPr lang="en-US" smtClean="0"/>
              <a:t>‹#›</a:t>
            </a:fld>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7035554" y="0"/>
            <a:ext cx="5156444" cy="6858000"/>
          </a:xfrm>
          <a:blipFill dpi="0" rotWithShape="1">
            <a:blip r:embed="rId2">
              <a:alphaModFix amt="80000"/>
            </a:blip>
            <a:srcRect/>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E1B20121-9211-E62C-6EDF-8301AE0A0865}"/>
              </a:ext>
            </a:extLst>
          </p:cNvPr>
          <p:cNvCxnSpPr>
            <a:cxnSpLocks/>
          </p:cNvCxnSpPr>
          <p:nvPr/>
        </p:nvCxnSpPr>
        <p:spPr>
          <a:xfrm>
            <a:off x="-4130" y="5215687"/>
            <a:ext cx="703225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BA69D92-87B2-B41F-6979-69668092108B}"/>
              </a:ext>
            </a:extLst>
          </p:cNvPr>
          <p:cNvCxnSpPr>
            <a:cxnSpLocks/>
          </p:cNvCxnSpPr>
          <p:nvPr/>
        </p:nvCxnSpPr>
        <p:spPr>
          <a:xfrm flipV="1">
            <a:off x="7028120" y="0"/>
            <a:ext cx="0" cy="6858001"/>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8754165"/>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49808"/>
            <a:ext cx="9287134" cy="3410712"/>
          </a:xfrm>
        </p:spPr>
        <p:txBody>
          <a:bodyPr vert="horz" lIns="91440" tIns="45720" rIns="91440" bIns="45720" rtlCol="0" anchor="t">
            <a:normAutofit/>
          </a:bodyPr>
          <a:lstStyle>
            <a:lvl1pPr>
              <a:defRPr lang="en-US" sz="125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477256"/>
            <a:ext cx="11155680" cy="111556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chemeClr val="tx2"/>
                </a:solidFill>
              </a:defRPr>
            </a:lvl1pPr>
          </a:lstStyle>
          <a:p>
            <a:fld id="{09DAD850-6AC5-466F-AC13-19EF30EEFBC3}"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9D0B70F0-3BE4-FD57-7260-3612F25DFB6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588333"/>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E8F94E15-B448-489B-871D-A40527BFA7B7}"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647840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1426464"/>
            <a:ext cx="9528048" cy="4183468"/>
          </a:xfrm>
        </p:spPr>
        <p:txBody>
          <a:bodyPr vert="horz" lIns="91440" tIns="45720" rIns="91440" bIns="45720" rtlCol="0" anchor="b">
            <a:normAutofit/>
          </a:bodyPr>
          <a:lstStyle>
            <a:lvl1pPr>
              <a:defRPr lang="en-US" sz="11500" dirty="0"/>
            </a:lvl1pPr>
          </a:lstStyle>
          <a:p>
            <a:pPr lvl="0"/>
            <a:r>
              <a:rPr lang="en-US"/>
              <a:t>Click to edit Master title style</a:t>
            </a:r>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779008"/>
            <a:ext cx="9528047" cy="923544"/>
          </a:xfrm>
        </p:spPr>
        <p:txBody>
          <a:bodyPr vert="horz" lIns="91440" tIns="45720" rIns="91440" bIns="45720" rtlCol="0">
            <a:normAutofit/>
          </a:bodyPr>
          <a:lstStyle>
            <a:lvl1pPr marL="0" indent="0">
              <a:buNone/>
              <a:defRPr lang="en-US"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p>
            <a:r>
              <a:rPr lang="en-US"/>
              <a:t>Footer Text</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680069" y="207982"/>
            <a:ext cx="2168017" cy="413360"/>
          </a:xfrm>
        </p:spPr>
        <p:txBody>
          <a:bodyPr/>
          <a:lstStyle/>
          <a:p>
            <a:fld id="{D9253186-4750-42D8-B836-81746FB2A999}" type="datetime1">
              <a:rPr lang="en-US" smtClean="0"/>
              <a:t>11/24/2025</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8F6B2E7A-179E-B6D8-4F25-0673E53A95D4}"/>
              </a:ext>
            </a:extLst>
          </p:cNvPr>
          <p:cNvCxnSpPr>
            <a:cxnSpLocks/>
          </p:cNvCxnSpPr>
          <p:nvPr/>
        </p:nvCxnSpPr>
        <p:spPr>
          <a:xfrm>
            <a:off x="1" y="790415"/>
            <a:ext cx="12191999"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8577576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CE994A23-0EFF-404D-A2C5-6B54939039AD}" type="datetime1">
              <a:rPr lang="en-US" smtClean="0"/>
              <a:t>11/24/2025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5058513"/>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accent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accent1"/>
                </a:solidFill>
              </a:defRPr>
            </a:lvl1pPr>
          </a:lstStyle>
          <a:p>
            <a:r>
              <a:rPr lang="en-US"/>
              <a:t>Footer Text</a:t>
            </a:r>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accent1"/>
                </a:solidFill>
              </a:defRPr>
            </a:lvl1pPr>
          </a:lstStyle>
          <a:p>
            <a:fld id="{4B393500-FDAE-4B7A-8E90-4B7ED0649363}" type="datetime1">
              <a:rPr lang="en-US" smtClean="0"/>
              <a:t>11/24/2025</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accent1"/>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6700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D9D311C3-93DB-42DC-917F-4386F19A1E3B}" type="datetime1">
              <a:rPr lang="en-US" smtClean="0"/>
              <a:t>11/24/2025</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721187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948C47DC-C479-4517-B1B0-94DB01BA76E7}"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12978"/>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394368" y="1589105"/>
            <a:ext cx="5403264" cy="1622994"/>
          </a:xfrm>
        </p:spPr>
        <p:txBody>
          <a:bodyPr vert="horz" lIns="91440" tIns="45720" rIns="91440" bIns="45720" rtlCol="0" anchor="b">
            <a:normAutofit/>
          </a:bodyPr>
          <a:lstStyle>
            <a:lvl1pPr algn="ctr">
              <a:defRPr lang="en-US" sz="44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D956E9D4-3B6F-5DDD-5E3B-A829B10ED9F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394368" y="3395398"/>
            <a:ext cx="5403264" cy="1837985"/>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60BAB4-BB08-FD4A-678D-2FFE35A0DFDA}"/>
              </a:ext>
            </a:extLst>
          </p:cNvPr>
          <p:cNvSpPr>
            <a:spLocks noGrp="1"/>
          </p:cNvSpPr>
          <p:nvPr>
            <p:ph type="dt" sz="half" idx="10"/>
          </p:nvPr>
        </p:nvSpPr>
        <p:spPr/>
        <p:txBody>
          <a:bodyPr/>
          <a:lstStyle/>
          <a:p>
            <a:fld id="{B24F1FC4-E055-4072-90AD-B359FC529E8A}" type="datetime1">
              <a:rPr lang="en-US" smtClean="0"/>
              <a:t>11/24/2025</a:t>
            </a:fld>
            <a:endParaRPr lang="en-US"/>
          </a:p>
        </p:txBody>
      </p:sp>
      <p:sp>
        <p:nvSpPr>
          <p:cNvPr id="10" name="Slide Number Placeholder 9">
            <a:extLst>
              <a:ext uri="{FF2B5EF4-FFF2-40B4-BE49-F238E27FC236}">
                <a16:creationId xmlns:a16="http://schemas.microsoft.com/office/drawing/2014/main" id="{DBF6EF0E-4178-1F33-0BF9-2A2B4C33C257}"/>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D801A3D6-493E-2CE6-4153-5A2D3C978311}"/>
              </a:ext>
            </a:extLst>
          </p:cNvPr>
          <p:cNvCxnSpPr>
            <a:cxnSpLocks/>
          </p:cNvCxnSpPr>
          <p:nvPr/>
        </p:nvCxnSpPr>
        <p:spPr>
          <a:xfrm>
            <a:off x="2673336"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1D7E29DE-22CD-1512-C9E7-51C4D8B5F337}"/>
              </a:ext>
            </a:extLst>
          </p:cNvPr>
          <p:cNvCxnSpPr>
            <a:cxnSpLocks/>
          </p:cNvCxnSpPr>
          <p:nvPr/>
        </p:nvCxnSpPr>
        <p:spPr>
          <a:xfrm>
            <a:off x="9526413"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7271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2" y="1100834"/>
            <a:ext cx="8533261" cy="2314842"/>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F6B2ADB6-8B11-5463-D307-3F4916CA6A7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566893" y="3442324"/>
            <a:ext cx="3894179" cy="2274889"/>
          </a:xfrm>
        </p:spPr>
        <p:txBody>
          <a:bodyPr vert="horz" lIns="91440" tIns="45720" rIns="91440" bIns="45720" rtlCol="0" anchor="b">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1A9A27FE-5C62-0E4C-1D35-2B5BE652199D}"/>
              </a:ext>
            </a:extLst>
          </p:cNvPr>
          <p:cNvSpPr>
            <a:spLocks noGrp="1"/>
          </p:cNvSpPr>
          <p:nvPr>
            <p:ph type="dt" sz="half" idx="10"/>
          </p:nvPr>
        </p:nvSpPr>
        <p:spPr/>
        <p:txBody>
          <a:bodyPr/>
          <a:lstStyle/>
          <a:p>
            <a:fld id="{69AE50BB-FE55-4F45-B460-B5BF3CD2BA72}" type="datetime1">
              <a:rPr lang="en-US" smtClean="0"/>
              <a:t>11/24/2025</a:t>
            </a:fld>
            <a:endParaRPr lang="en-US"/>
          </a:p>
        </p:txBody>
      </p:sp>
      <p:sp>
        <p:nvSpPr>
          <p:cNvPr id="13" name="Slide Number Placeholder 12">
            <a:extLst>
              <a:ext uri="{FF2B5EF4-FFF2-40B4-BE49-F238E27FC236}">
                <a16:creationId xmlns:a16="http://schemas.microsoft.com/office/drawing/2014/main" id="{047450B0-6060-60C9-5AC2-20186A242445}"/>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B21C4E92-1D0B-ABAB-54CA-016BB17A93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5993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92C9D0B-C1A3-434D-9CF9-A666A14DD8A1}" type="datetime1">
              <a:rPr lang="en-US" smtClean="0"/>
              <a:t>11/24/2025</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8998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1264785"/>
            <a:ext cx="4479107" cy="4315917"/>
          </a:xfrm>
        </p:spPr>
        <p:txBody>
          <a:bodyPr vert="horz" lIns="91440" tIns="45720" rIns="91440" bIns="45720" rtlCol="0" anchor="ctr">
            <a:normAutofit/>
          </a:bodyPr>
          <a:lstStyle>
            <a:lvl1pPr>
              <a:defRPr lang="en-US" sz="6600"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22A59EF-3E61-0654-D289-2E1D6B738BA9}"/>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1264782"/>
            <a:ext cx="5869293" cy="43159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1E4E1FBF-A73A-1962-4961-FD2DDB212A04}"/>
              </a:ext>
            </a:extLst>
          </p:cNvPr>
          <p:cNvSpPr>
            <a:spLocks noGrp="1"/>
          </p:cNvSpPr>
          <p:nvPr>
            <p:ph type="dt" sz="half" idx="10"/>
          </p:nvPr>
        </p:nvSpPr>
        <p:spPr>
          <a:xfrm>
            <a:off x="5751577" y="207982"/>
            <a:ext cx="1921315" cy="413360"/>
          </a:xfrm>
        </p:spPr>
        <p:txBody>
          <a:bodyPr/>
          <a:lstStyle/>
          <a:p>
            <a:fld id="{A160C79D-A598-4F1A-884F-A703D5B0FD7B}" type="datetime1">
              <a:rPr lang="en-US" smtClean="0"/>
              <a:t>11/24/2025</a:t>
            </a:fld>
            <a:endParaRPr lang="en-US"/>
          </a:p>
        </p:txBody>
      </p:sp>
      <p:sp>
        <p:nvSpPr>
          <p:cNvPr id="11" name="Slide Number Placeholder 10">
            <a:extLst>
              <a:ext uri="{FF2B5EF4-FFF2-40B4-BE49-F238E27FC236}">
                <a16:creationId xmlns:a16="http://schemas.microsoft.com/office/drawing/2014/main" id="{EB5754BB-F3CF-1B1E-E0B8-85D0578CB61D}"/>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787587"/>
            <a:ext cx="0" cy="527031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63667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742A22FE-7CAA-4561-B3B2-F8D8C37BE3D2}" type="datetime1">
              <a:rPr lang="en-US" smtClean="0"/>
              <a:t>11/24/2025</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85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1034473"/>
            <a:ext cx="11420337" cy="1582221"/>
          </a:xfrm>
        </p:spPr>
        <p:txBody>
          <a:bodyPr/>
          <a:lstStyle>
            <a:lvl1pPr>
              <a:defRPr sz="66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974109"/>
            <a:ext cx="11420336" cy="34015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E617F9A-AF72-E9F9-FE67-264CFD0B855C}"/>
              </a:ext>
            </a:extLst>
          </p:cNvPr>
          <p:cNvSpPr>
            <a:spLocks noGrp="1"/>
          </p:cNvSpPr>
          <p:nvPr>
            <p:ph type="ftr" sz="quarter" idx="11"/>
          </p:nvPr>
        </p:nvSpPr>
        <p:spPr/>
        <p:txBody>
          <a:bodyPr/>
          <a:lstStyle/>
          <a:p>
            <a:r>
              <a:rPr lang="en-US"/>
              <a:t>Footer Text</a:t>
            </a:r>
          </a:p>
        </p:txBody>
      </p:sp>
      <p:sp>
        <p:nvSpPr>
          <p:cNvPr id="8" name="Date Placeholder 7">
            <a:extLst>
              <a:ext uri="{FF2B5EF4-FFF2-40B4-BE49-F238E27FC236}">
                <a16:creationId xmlns:a16="http://schemas.microsoft.com/office/drawing/2014/main" id="{70522668-B624-9A0D-743B-874B6468AC18}"/>
              </a:ext>
            </a:extLst>
          </p:cNvPr>
          <p:cNvSpPr>
            <a:spLocks noGrp="1"/>
          </p:cNvSpPr>
          <p:nvPr>
            <p:ph type="dt" sz="half" idx="10"/>
          </p:nvPr>
        </p:nvSpPr>
        <p:spPr/>
        <p:txBody>
          <a:bodyPr/>
          <a:lstStyle/>
          <a:p>
            <a:fld id="{7DD67DB9-842B-4031-A4D5-ECF9E159B606}" type="datetime1">
              <a:rPr lang="en-US" smtClean="0"/>
              <a:t>11/24/2025</a:t>
            </a:fld>
            <a:endParaRPr lang="en-US"/>
          </a:p>
        </p:txBody>
      </p:sp>
      <p:sp>
        <p:nvSpPr>
          <p:cNvPr id="10" name="Slide Number Placeholder 9">
            <a:extLst>
              <a:ext uri="{FF2B5EF4-FFF2-40B4-BE49-F238E27FC236}">
                <a16:creationId xmlns:a16="http://schemas.microsoft.com/office/drawing/2014/main" id="{F09EC300-3CBF-3BA7-991F-4143EBA209C4}"/>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2703185"/>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5648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5088" y="1249959"/>
            <a:ext cx="3578905" cy="512567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34E7AB67-A25E-F99D-7053-223A31AB4A91}"/>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75958" y="1249958"/>
            <a:ext cx="7022846" cy="53629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44B773E1-C0C5-10BC-5283-0943095DF2D9}"/>
              </a:ext>
            </a:extLst>
          </p:cNvPr>
          <p:cNvSpPr>
            <a:spLocks noGrp="1"/>
          </p:cNvSpPr>
          <p:nvPr>
            <p:ph type="dt" sz="half" idx="10"/>
          </p:nvPr>
        </p:nvSpPr>
        <p:spPr>
          <a:xfrm>
            <a:off x="4775958" y="207982"/>
            <a:ext cx="1921315" cy="413360"/>
          </a:xfrm>
        </p:spPr>
        <p:txBody>
          <a:bodyPr/>
          <a:lstStyle/>
          <a:p>
            <a:fld id="{CBE35CD3-9190-4B1C-AA9F-C899B0873567}" type="datetime1">
              <a:rPr lang="en-US" smtClean="0"/>
              <a:t>11/24/2025</a:t>
            </a:fld>
            <a:endParaRPr lang="en-US"/>
          </a:p>
        </p:txBody>
      </p:sp>
      <p:sp>
        <p:nvSpPr>
          <p:cNvPr id="10" name="Slide Number Placeholder 9">
            <a:extLst>
              <a:ext uri="{FF2B5EF4-FFF2-40B4-BE49-F238E27FC236}">
                <a16:creationId xmlns:a16="http://schemas.microsoft.com/office/drawing/2014/main" id="{8E615B6D-D0FF-BC11-9C32-FDA7B7D08BA8}"/>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336321"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20253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83140"/>
            <a:ext cx="11452341"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2" name="Footer Placeholder 11">
            <a:extLst>
              <a:ext uri="{FF2B5EF4-FFF2-40B4-BE49-F238E27FC236}">
                <a16:creationId xmlns:a16="http://schemas.microsoft.com/office/drawing/2014/main" id="{E3CC60A8-3DE8-B0E7-1EC5-2B337CF2BA7D}"/>
              </a:ext>
            </a:extLst>
          </p:cNvPr>
          <p:cNvSpPr>
            <a:spLocks noGrp="1"/>
          </p:cNvSpPr>
          <p:nvPr>
            <p:ph type="ftr" sz="quarter" idx="11"/>
          </p:nvPr>
        </p:nvSpPr>
        <p:spPr/>
        <p:txBody>
          <a:bodyPr/>
          <a:lstStyle/>
          <a:p>
            <a:r>
              <a:rPr lang="en-US"/>
              <a:t>Footer Text</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1743311"/>
            <a:ext cx="11452342" cy="491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7EB01C-FB71-1416-6F69-B25D90D39C0F}"/>
              </a:ext>
            </a:extLst>
          </p:cNvPr>
          <p:cNvSpPr>
            <a:spLocks noGrp="1"/>
          </p:cNvSpPr>
          <p:nvPr>
            <p:ph type="dt" sz="half" idx="10"/>
          </p:nvPr>
        </p:nvSpPr>
        <p:spPr/>
        <p:txBody>
          <a:bodyPr/>
          <a:lstStyle/>
          <a:p>
            <a:fld id="{52A7ABF8-FBB9-4C71-BBD7-96C5E24AE291}" type="datetime1">
              <a:rPr lang="en-US" smtClean="0"/>
              <a:t>11/24/2025</a:t>
            </a:fld>
            <a:endParaRPr lang="en-US"/>
          </a:p>
        </p:txBody>
      </p:sp>
      <p:sp>
        <p:nvSpPr>
          <p:cNvPr id="13" name="Slide Number Placeholder 12">
            <a:extLst>
              <a:ext uri="{FF2B5EF4-FFF2-40B4-BE49-F238E27FC236}">
                <a16:creationId xmlns:a16="http://schemas.microsoft.com/office/drawing/2014/main" id="{8E842DA4-700F-A2D4-6AB8-0BAEDF3210BE}"/>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C5BF1F3F-87E2-1270-FB4D-FD251AD7E63C}"/>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83715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491FA625-EDE8-4CCD-93F2-36B8EAED6AA1}"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123895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649965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1"/>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364879" y="210311"/>
            <a:ext cx="1679642" cy="411480"/>
          </a:xfrm>
        </p:spPr>
        <p:txBody>
          <a:bodyPr/>
          <a:lstStyle/>
          <a:p>
            <a:fld id="{18520A44-1A63-4FB7-80E4-61FF907A138E}"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6147480"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8" y="2944368"/>
            <a:ext cx="6499657"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77621" y="0"/>
            <a:ext cx="4914379"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272857"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51667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r>
              <a:rPr lang="en-US"/>
              <a:t>Footer Text</a:t>
            </a:r>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5824A7B9-17B9-4425-9158-739F678A55EB}" type="datetime1">
              <a:rPr lang="en-US" smtClean="0"/>
              <a:t>11/24/2025</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35810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r>
              <a:rPr lang="en-US"/>
              <a:t>Footer Text</a:t>
            </a:r>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28E8FF4C-7F6A-4962-9270-F797B8959287}" type="datetime1">
              <a:rPr lang="en-US" smtClean="0"/>
              <a:t>11/24/2025</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18029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749808"/>
            <a:ext cx="4163674" cy="2039112"/>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7520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73675" y="210312"/>
            <a:ext cx="1058111" cy="411480"/>
          </a:xfrm>
        </p:spPr>
        <p:txBody>
          <a:bodyPr/>
          <a:lstStyle/>
          <a:p>
            <a:fld id="{A2955807-6726-42C9-B7D5-F5CAD1E31DC0}"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54543"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61" y="2944368"/>
            <a:ext cx="4163674" cy="35822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881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01013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064F86E1-145A-4683-AD05-97E7E41B4995}"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76881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670308" y="853949"/>
            <a:ext cx="4102574" cy="151607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1" y="0"/>
            <a:ext cx="7285976" cy="6858000"/>
          </a:xfrm>
          <a:blipFill>
            <a:blip r:embed="rId2">
              <a:alphaModFix amt="8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7670308" y="213482"/>
            <a:ext cx="2129674"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930367" y="210312"/>
            <a:ext cx="1216834" cy="411480"/>
          </a:xfrm>
        </p:spPr>
        <p:txBody>
          <a:bodyPr/>
          <a:lstStyle/>
          <a:p>
            <a:fld id="{3E021DF1-F92E-444A-9AEF-304BD60FF6DA}"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26453" y="210312"/>
            <a:ext cx="679998"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70308" y="2578607"/>
            <a:ext cx="4102585" cy="39502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5" name="Straight Connector 14">
            <a:extLst>
              <a:ext uri="{FF2B5EF4-FFF2-40B4-BE49-F238E27FC236}">
                <a16:creationId xmlns:a16="http://schemas.microsoft.com/office/drawing/2014/main" id="{19E9D652-D7DE-25C0-FCD7-3031AEEB0C6C}"/>
              </a:ext>
            </a:extLst>
          </p:cNvPr>
          <p:cNvCxnSpPr>
            <a:cxnSpLocks/>
          </p:cNvCxnSpPr>
          <p:nvPr/>
        </p:nvCxnSpPr>
        <p:spPr>
          <a:xfrm>
            <a:off x="7291894"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8269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96B14CE5-CB23-4F24-AF40-FFA10F25B799}"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413463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C939A3FF-4925-4C53-B6D9-F2B1807D4179}" type="datetime1">
              <a:rPr lang="en-US" smtClean="0"/>
              <a:t>11/24/2025</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22840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3"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58B12C2E-FD87-6FEB-F35D-ABCDF00C8DFA}"/>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85656A87-5539-46DA-CF5D-F2506ECA3F8D}"/>
              </a:ext>
            </a:extLst>
          </p:cNvPr>
          <p:cNvSpPr>
            <a:spLocks noGrp="1"/>
          </p:cNvSpPr>
          <p:nvPr>
            <p:ph type="dt" sz="half" idx="14"/>
          </p:nvPr>
        </p:nvSpPr>
        <p:spPr/>
        <p:txBody>
          <a:bodyPr/>
          <a:lstStyle/>
          <a:p>
            <a:fld id="{C3A045AE-50EB-46C6-B8D1-C8DF92FBD24F}" type="datetime1">
              <a:rPr lang="en-US" smtClean="0"/>
              <a:t>11/24/2025</a:t>
            </a:fld>
            <a:endParaRPr lang="en-US"/>
          </a:p>
        </p:txBody>
      </p:sp>
      <p:sp>
        <p:nvSpPr>
          <p:cNvPr id="12" name="Slide Number Placeholder 11">
            <a:extLst>
              <a:ext uri="{FF2B5EF4-FFF2-40B4-BE49-F238E27FC236}">
                <a16:creationId xmlns:a16="http://schemas.microsoft.com/office/drawing/2014/main" id="{01AB7173-DF2F-B8EA-F83D-4C7263C765EB}"/>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1834525"/>
            <a:ext cx="4905942" cy="50234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2911" y="2180556"/>
            <a:ext cx="6435936" cy="430476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4914379"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33545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7" cy="960120"/>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BBEAB049-8AFC-5262-0ECB-2E9CDA2066B9}"/>
              </a:ext>
            </a:extLst>
          </p:cNvPr>
          <p:cNvSpPr>
            <a:spLocks noGrp="1"/>
          </p:cNvSpPr>
          <p:nvPr>
            <p:ph type="ftr" sz="quarter" idx="15"/>
          </p:nvPr>
        </p:nvSpPr>
        <p:spPr/>
        <p:txBody>
          <a:bodyPr/>
          <a:lstStyle/>
          <a:p>
            <a:r>
              <a:rPr lang="en-US"/>
              <a:t>Footer Text</a:t>
            </a:r>
          </a:p>
        </p:txBody>
      </p:sp>
      <p:sp>
        <p:nvSpPr>
          <p:cNvPr id="7" name="Date Placeholder 6">
            <a:extLst>
              <a:ext uri="{FF2B5EF4-FFF2-40B4-BE49-F238E27FC236}">
                <a16:creationId xmlns:a16="http://schemas.microsoft.com/office/drawing/2014/main" id="{6E26863A-85CF-52FA-E2B2-AF70382C6922}"/>
              </a:ext>
            </a:extLst>
          </p:cNvPr>
          <p:cNvSpPr>
            <a:spLocks noGrp="1"/>
          </p:cNvSpPr>
          <p:nvPr>
            <p:ph type="dt" sz="half" idx="14"/>
          </p:nvPr>
        </p:nvSpPr>
        <p:spPr/>
        <p:txBody>
          <a:bodyPr/>
          <a:lstStyle/>
          <a:p>
            <a:fld id="{E1987558-2E71-415A-A90B-E63D7A0329F1}" type="datetime1">
              <a:rPr lang="en-US" smtClean="0"/>
              <a:t>11/24/2025</a:t>
            </a:fld>
            <a:endParaRPr lang="en-US"/>
          </a:p>
        </p:txBody>
      </p:sp>
      <p:sp>
        <p:nvSpPr>
          <p:cNvPr id="12" name="Slide Number Placeholder 11">
            <a:extLst>
              <a:ext uri="{FF2B5EF4-FFF2-40B4-BE49-F238E27FC236}">
                <a16:creationId xmlns:a16="http://schemas.microsoft.com/office/drawing/2014/main" id="{1DF7822C-4885-9FA2-F9E5-E0B61BDDB41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6419605" cy="437535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286058" y="1834525"/>
            <a:ext cx="4905942" cy="5023476"/>
          </a:xfrm>
          <a:blipFill>
            <a:blip r:embed="rId2">
              <a:alphaModFix amt="80000"/>
            </a:blip>
            <a:stretch>
              <a:fillRect/>
            </a:stretch>
          </a:blipFill>
        </p:spPr>
        <p:txBody>
          <a:bodyPr/>
          <a:lstStyle>
            <a:lvl1pPr marL="0" indent="0">
              <a:buNone/>
              <a:defRPr/>
            </a:lvl1pPr>
          </a:lstStyle>
          <a:p>
            <a:r>
              <a:rPr lang="en-US"/>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7286058"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47449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220747AD-BB60-464B-B16B-6CC7DCEAA31E}"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484247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4364336"/>
            <a:ext cx="3593592" cy="164772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3985863"/>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0" y="4321099"/>
            <a:ext cx="7136195" cy="206742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5"/>
            <a:ext cx="2962656" cy="36576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0" y="6437375"/>
            <a:ext cx="4549414" cy="365760"/>
          </a:xfrm>
        </p:spPr>
        <p:txBody>
          <a:bodyPr/>
          <a:lstStyle/>
          <a:p>
            <a:fld id="{9215AEAD-579C-4AC1-88F0-8AB8BCFD43FD}"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365760"/>
          </a:xfrm>
        </p:spPr>
        <p:txBody>
          <a:body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3985863"/>
            <a:ext cx="0" cy="287213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985863"/>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20600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3593592" cy="16421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210311"/>
            <a:ext cx="4549413" cy="411480"/>
          </a:xfrm>
        </p:spPr>
        <p:txBody>
          <a:bodyPr/>
          <a:lstStyle/>
          <a:p>
            <a:fld id="{6F2DDD3F-C716-416F-92A0-B3CC5AC8AFF6}"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717941"/>
            <a:ext cx="7073776" cy="2066544"/>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3048520"/>
            <a:ext cx="12198096" cy="3809480"/>
          </a:xfrm>
          <a:blipFill>
            <a:blip r:embed="rId2">
              <a:alphaModFix amt="80000"/>
            </a:blip>
            <a:stretch>
              <a:fillRect/>
            </a:stretch>
          </a:blipFill>
        </p:spPr>
        <p:txBody>
          <a:bodyPr/>
          <a:lstStyle>
            <a:lvl1pPr marL="0" indent="0">
              <a:buNone/>
              <a:defRPr/>
            </a:lvl1pPr>
          </a:lstStyle>
          <a:p>
            <a:r>
              <a:rPr lang="en-US"/>
              <a:t> </a:t>
            </a:r>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0"/>
            <a:ext cx="0" cy="3045465"/>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3045465"/>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222242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8" name="Picture Placeholder 9">
            <a:extLst>
              <a:ext uri="{FF2B5EF4-FFF2-40B4-BE49-F238E27FC236}">
                <a16:creationId xmlns:a16="http://schemas.microsoft.com/office/drawing/2014/main" id="{4392B674-7AB8-8272-87B1-5B7038F7CB85}"/>
              </a:ext>
            </a:extLst>
          </p:cNvPr>
          <p:cNvSpPr>
            <a:spLocks noGrp="1"/>
          </p:cNvSpPr>
          <p:nvPr>
            <p:ph type="pic" sz="quarter" idx="13" hasCustomPrompt="1"/>
          </p:nvPr>
        </p:nvSpPr>
        <p:spPr>
          <a:xfrm>
            <a:off x="0" y="0"/>
            <a:ext cx="12191996" cy="6858000"/>
          </a:xfrm>
          <a:custGeom>
            <a:avLst/>
            <a:gdLst>
              <a:gd name="connsiteX0" fmla="*/ 795631 w 12191996"/>
              <a:gd name="connsiteY0" fmla="*/ 789997 h 6858000"/>
              <a:gd name="connsiteX1" fmla="*/ 795631 w 12191996"/>
              <a:gd name="connsiteY1" fmla="*/ 6068003 h 6858000"/>
              <a:gd name="connsiteX2" fmla="*/ 4649508 w 12191996"/>
              <a:gd name="connsiteY2" fmla="*/ 6068003 h 6858000"/>
              <a:gd name="connsiteX3" fmla="*/ 4649508 w 12191996"/>
              <a:gd name="connsiteY3" fmla="*/ 789997 h 6858000"/>
              <a:gd name="connsiteX4" fmla="*/ 0 w 12191996"/>
              <a:gd name="connsiteY4" fmla="*/ 0 h 6858000"/>
              <a:gd name="connsiteX5" fmla="*/ 12191996 w 12191996"/>
              <a:gd name="connsiteY5" fmla="*/ 0 h 6858000"/>
              <a:gd name="connsiteX6" fmla="*/ 12191996 w 12191996"/>
              <a:gd name="connsiteY6" fmla="*/ 6858000 h 6858000"/>
              <a:gd name="connsiteX7" fmla="*/ 0 w 1219199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6" h="6858000">
                <a:moveTo>
                  <a:pt x="795631" y="789997"/>
                </a:moveTo>
                <a:lnTo>
                  <a:pt x="795631" y="6068003"/>
                </a:lnTo>
                <a:lnTo>
                  <a:pt x="4649508" y="6068003"/>
                </a:lnTo>
                <a:lnTo>
                  <a:pt x="4649508" y="789997"/>
                </a:lnTo>
                <a:close/>
                <a:moveTo>
                  <a:pt x="0" y="0"/>
                </a:moveTo>
                <a:lnTo>
                  <a:pt x="12191996" y="0"/>
                </a:lnTo>
                <a:lnTo>
                  <a:pt x="12191996" y="6858000"/>
                </a:lnTo>
                <a:lnTo>
                  <a:pt x="0" y="6858000"/>
                </a:lnTo>
                <a:close/>
              </a:path>
            </a:pathLst>
          </a:custGeom>
          <a:blipFill>
            <a:blip r:embed="rId2">
              <a:alphaModFix amt="8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95631" y="789997"/>
            <a:ext cx="3853877" cy="5280546"/>
          </a:xfrm>
          <a:solidFill>
            <a:schemeClr val="bg2"/>
          </a:solidFill>
          <a:ln>
            <a:solidFill>
              <a:schemeClr val="tx2"/>
            </a:solidFill>
          </a:ln>
        </p:spPr>
        <p:txBody>
          <a:bodyPr vert="horz" lIns="45720" tIns="320040" rIns="91440" bIns="3840480" rtlCol="0" anchor="t">
            <a:normAutofit/>
          </a:bodyPr>
          <a:lstStyle>
            <a:lvl1pPr marL="182880">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688899" cy="411480"/>
          </a:xfrm>
        </p:spPr>
        <p:txBody>
          <a:bodyPr/>
          <a:lstStyle>
            <a:lvl1pPr>
              <a:defRPr>
                <a:solidFill>
                  <a:srgbClr val="FFFFFF"/>
                </a:solidFill>
                <a:effectLst>
                  <a:outerShdw blurRad="38100" dist="38100" dir="2700000" algn="tl">
                    <a:srgbClr val="000000">
                      <a:alpha val="43137"/>
                    </a:srgbClr>
                  </a:outerShdw>
                </a:effectLst>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129520" y="210312"/>
            <a:ext cx="1060704" cy="411480"/>
          </a:xfrm>
        </p:spPr>
        <p:txBody>
          <a:bodyPr/>
          <a:lstStyle>
            <a:lvl1pPr>
              <a:defRPr>
                <a:solidFill>
                  <a:srgbClr val="FFFFFF"/>
                </a:solidFill>
                <a:effectLst>
                  <a:outerShdw blurRad="38100" dist="38100" dir="2700000" algn="tl">
                    <a:srgbClr val="000000">
                      <a:alpha val="43137"/>
                    </a:srgbClr>
                  </a:outerShdw>
                </a:effectLst>
              </a:defRPr>
            </a:lvl1pPr>
          </a:lstStyle>
          <a:p>
            <a:fld id="{A1EA33C4-6E91-4A95-864E-A6A838FBE588}"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103061" y="210312"/>
            <a:ext cx="546447" cy="413360"/>
          </a:xfrm>
        </p:spPr>
        <p:txBody>
          <a:bodyPr/>
          <a:lstStyle>
            <a:lvl1pPr>
              <a:defRPr>
                <a:solidFill>
                  <a:srgbClr val="FFFFFF"/>
                </a:solidFill>
                <a:effectLst>
                  <a:outerShdw blurRad="38100" dist="38100" dir="2700000" algn="tl">
                    <a:srgbClr val="000000">
                      <a:alpha val="43137"/>
                    </a:srgbClr>
                  </a:outerShdw>
                </a:effectLst>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1051559" y="2356793"/>
            <a:ext cx="3364992" cy="3467535"/>
          </a:xfrm>
          <a:solidFill>
            <a:schemeClr val="bg2"/>
          </a:solidFill>
          <a:ln>
            <a:noFill/>
          </a:ln>
          <a:effectLst>
            <a:outerShdw dist="12700" dir="16200000" rotWithShape="0">
              <a:prstClr val="black"/>
            </a:outerShdw>
          </a:effectLst>
        </p:spPr>
        <p:txBody>
          <a:bodyPr lIns="45720" tIns="137160" rIns="45720" anchor="ctr">
            <a:normAutofit/>
          </a:bodyPr>
          <a:lstStyle>
            <a:lvl1pPr marL="0">
              <a:defRPr/>
            </a:lvl1pPr>
            <a:lvl2pPr marL="0">
              <a:defRPr/>
            </a:lvl2pPr>
            <a:lvl3pPr marL="0">
              <a:defRPr/>
            </a:lvl3pPr>
            <a:lvl4pPr marL="0">
              <a:defRPr/>
            </a:lvl4pPr>
            <a:lvl5pPr marL="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360346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B340F08F-40FA-4D3B-96CF-F8FAF483E9A7}" type="datetime1">
              <a:rPr lang="en-US" smtClean="0"/>
              <a:t>11/24/2025</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90730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762002"/>
            <a:ext cx="5294939" cy="1555895"/>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9" name="Footer Placeholder 8">
            <a:extLst>
              <a:ext uri="{FF2B5EF4-FFF2-40B4-BE49-F238E27FC236}">
                <a16:creationId xmlns:a16="http://schemas.microsoft.com/office/drawing/2014/main" id="{70F70C4A-BA92-6BFC-3B1F-307DC253CC2B}"/>
              </a:ext>
            </a:extLst>
          </p:cNvPr>
          <p:cNvSpPr>
            <a:spLocks noGrp="1"/>
          </p:cNvSpPr>
          <p:nvPr>
            <p:ph type="ftr" sz="quarter" idx="15"/>
          </p:nvPr>
        </p:nvSpPr>
        <p:spPr/>
        <p:txBody>
          <a:bodyPr/>
          <a:lstStyle/>
          <a:p>
            <a:r>
              <a:rPr lang="en-US"/>
              <a:t>Footer Text</a:t>
            </a:r>
          </a:p>
        </p:txBody>
      </p:sp>
      <p:sp>
        <p:nvSpPr>
          <p:cNvPr id="8" name="Date Placeholder 7">
            <a:extLst>
              <a:ext uri="{FF2B5EF4-FFF2-40B4-BE49-F238E27FC236}">
                <a16:creationId xmlns:a16="http://schemas.microsoft.com/office/drawing/2014/main" id="{E2862A36-3103-C394-ACDE-9712D22EC1E9}"/>
              </a:ext>
            </a:extLst>
          </p:cNvPr>
          <p:cNvSpPr>
            <a:spLocks noGrp="1"/>
          </p:cNvSpPr>
          <p:nvPr>
            <p:ph type="dt" sz="half" idx="14"/>
          </p:nvPr>
        </p:nvSpPr>
        <p:spPr>
          <a:xfrm>
            <a:off x="6340642" y="207982"/>
            <a:ext cx="1921315" cy="413360"/>
          </a:xfrm>
        </p:spPr>
        <p:txBody>
          <a:bodyPr/>
          <a:lstStyle/>
          <a:p>
            <a:fld id="{025BF5DA-9B72-4C47-B5EF-1EED5B08EE79}" type="datetime1">
              <a:rPr lang="en-US" smtClean="0"/>
              <a:t>11/24/2025</a:t>
            </a:fld>
            <a:endParaRPr lang="en-US"/>
          </a:p>
        </p:txBody>
      </p:sp>
      <p:sp>
        <p:nvSpPr>
          <p:cNvPr id="11" name="Slide Number Placeholder 10">
            <a:extLst>
              <a:ext uri="{FF2B5EF4-FFF2-40B4-BE49-F238E27FC236}">
                <a16:creationId xmlns:a16="http://schemas.microsoft.com/office/drawing/2014/main" id="{E054C547-CF4F-67F9-FBC5-A0BE282578D6}"/>
              </a:ext>
            </a:extLst>
          </p:cNvPr>
          <p:cNvSpPr>
            <a:spLocks noGrp="1"/>
          </p:cNvSpPr>
          <p:nvPr>
            <p:ph type="sldNum" sz="quarter" idx="16"/>
          </p:nvPr>
        </p:nvSpPr>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2442689"/>
            <a:ext cx="5875421" cy="4422032"/>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6340642" y="762000"/>
            <a:ext cx="5432239"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5875421"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5875423"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86766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EB5EDF0F-3515-4895-B663-882304741893}"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189638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1152143"/>
            <a:ext cx="4350052" cy="2620959"/>
          </a:xfrm>
        </p:spPr>
        <p:txBody>
          <a:bodyPr vert="horz" lIns="91440" tIns="45720" rIns="91440" bIns="45720" rtlCol="0" anchor="t">
            <a:normAutofit/>
          </a:bodyPr>
          <a:lstStyle>
            <a:lvl1pPr>
              <a:defRPr lang="en-US" sz="7200"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64000" y="210312"/>
            <a:ext cx="1569350" cy="411480"/>
          </a:xfrm>
        </p:spPr>
        <p:txBody>
          <a:bodyPr/>
          <a:lstStyle/>
          <a:p>
            <a:fld id="{B534C9EB-6793-4BE3-BB6C-BE53FADDC8D1}"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4089769"/>
            <a:ext cx="4921917" cy="2777751"/>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3" y="1152144"/>
            <a:ext cx="6414499" cy="5401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083425"/>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6579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7874" y="5197449"/>
            <a:ext cx="4244126" cy="146304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5358383" y="210312"/>
            <a:ext cx="1569350" cy="411480"/>
          </a:xfrm>
        </p:spPr>
        <p:txBody>
          <a:bodyPr/>
          <a:lstStyle/>
          <a:p>
            <a:fld id="{0E608933-3727-45F8-8E35-F46170696AC2}"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p>
            <a:fld id="{753D0FD4-819D-4187-8797-C35567B41C78}"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794335"/>
            <a:ext cx="4921917" cy="4047478"/>
          </a:xfrm>
          <a:blipFill>
            <a:blip r:embed="rId2">
              <a:alphaModFix amt="8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152144"/>
            <a:ext cx="6382512" cy="534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4841814"/>
            <a:ext cx="4921917"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F7E856F-6265-38B0-6F7D-95063C760CBC}"/>
              </a:ext>
            </a:extLst>
          </p:cNvPr>
          <p:cNvCxnSpPr>
            <a:cxnSpLocks/>
          </p:cNvCxnSpPr>
          <p:nvPr/>
        </p:nvCxnSpPr>
        <p:spPr>
          <a:xfrm>
            <a:off x="4925804"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87670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05B29ED0-7871-4976-8402-1756C1FAC1EA}"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47948243"/>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20624" y="5349240"/>
            <a:ext cx="11414692" cy="1225296"/>
          </a:xfrm>
        </p:spPr>
        <p:txBody>
          <a:bodyPr anchor="t">
            <a:normAutofit/>
          </a:bodyPr>
          <a:lstStyle>
            <a:lvl1pPr>
              <a:lnSpc>
                <a:spcPct val="80000"/>
              </a:lnSpc>
              <a:defRPr sz="4000" cap="all" spc="100" baseline="0">
                <a:solidFill>
                  <a:schemeClr val="tx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219455" y="1188321"/>
            <a:ext cx="11615861" cy="4258079"/>
          </a:xfrm>
        </p:spPr>
        <p:txBody>
          <a:bodyPr vert="horz" lIns="91440" tIns="45720" rIns="91440" bIns="45720" rtlCol="0" anchor="b">
            <a:normAutofit/>
          </a:bodyPr>
          <a:lstStyle>
            <a:lvl1pPr marL="0" indent="0">
              <a:lnSpc>
                <a:spcPct val="70000"/>
              </a:lnSpc>
              <a:buNone/>
              <a:defRPr lang="en-US" sz="40100" dirty="0">
                <a:ln>
                  <a:solidFill>
                    <a:schemeClr val="tx2"/>
                  </a:solidFill>
                </a:ln>
                <a:solidFill>
                  <a:schemeClr val="bg2"/>
                </a:solidFill>
                <a:latin typeface="+mj-lt"/>
              </a:defRPr>
            </a:lvl1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normAutofit/>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FB8A85C-40AB-478D-AA51-CA7D29CEF737}"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normAutofit/>
          </a:bodyPr>
          <a:lstStyle>
            <a:lvl1pPr>
              <a:defRPr>
                <a:solidFill>
                  <a:schemeClr val="tx2"/>
                </a:solidFill>
              </a:defRPr>
            </a:lvl1p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367407E9-9629-73EA-8583-87EC092046E4}"/>
              </a:ext>
            </a:extLst>
          </p:cNvPr>
          <p:cNvCxnSpPr>
            <a:cxnSpLocks/>
          </p:cNvCxnSpPr>
          <p:nvPr/>
        </p:nvCxnSpPr>
        <p:spPr>
          <a:xfrm>
            <a:off x="0" y="50559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A1EB09F8-0C93-A873-28FE-48A38B4CEAD9}"/>
              </a:ext>
            </a:extLst>
          </p:cNvPr>
          <p:cNvCxnSpPr>
            <a:cxnSpLocks/>
          </p:cNvCxnSpPr>
          <p:nvPr/>
        </p:nvCxnSpPr>
        <p:spPr>
          <a:xfrm>
            <a:off x="0" y="788718"/>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75922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tx2"/>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FEA22AB6-0BB7-4DCA-85DA-8246194506D3}"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lvl1pPr>
              <a:defRPr>
                <a:solidFill>
                  <a:schemeClr val="tx2"/>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8809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Number Larg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11480" y="5172725"/>
            <a:ext cx="11356848" cy="777240"/>
          </a:xfrm>
        </p:spPr>
        <p:txBody>
          <a:bodyPr anchor="ctr">
            <a:normAutofit/>
          </a:bodyPr>
          <a:lstStyle>
            <a:lvl1pPr algn="ctr">
              <a:lnSpc>
                <a:spcPct val="110000"/>
              </a:lnSpc>
              <a:defRPr sz="2000" cap="all" spc="100" baseline="0">
                <a:solidFill>
                  <a:schemeClr val="tx2">
                    <a:lumMod val="90000"/>
                  </a:schemeClr>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822960" y="1201036"/>
            <a:ext cx="10543032" cy="4050792"/>
          </a:xfrm>
        </p:spPr>
        <p:txBody>
          <a:bodyPr vert="horz" lIns="91440" tIns="45720" rIns="91440" bIns="45720" rtlCol="0" anchor="t">
            <a:normAutofit/>
          </a:bodyPr>
          <a:lstStyle>
            <a:lvl1pPr marL="0" indent="0" algn="ctr">
              <a:lnSpc>
                <a:spcPct val="70000"/>
              </a:lnSpc>
              <a:buNone/>
              <a:defRPr lang="en-US" sz="40100" dirty="0">
                <a:solidFill>
                  <a:schemeClr val="tx2">
                    <a:lumMod val="90000"/>
                  </a:schemeClr>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54495"/>
            <a:ext cx="2962656" cy="411480"/>
          </a:xfrm>
        </p:spPr>
        <p:txBody>
          <a:bodyPr/>
          <a:lstStyle>
            <a:lvl1pPr>
              <a:defRPr>
                <a:solidFill>
                  <a:schemeClr val="tx2">
                    <a:lumMod val="90000"/>
                  </a:schemeClr>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54495"/>
            <a:ext cx="1679642" cy="411480"/>
          </a:xfrm>
        </p:spPr>
        <p:txBody>
          <a:bodyPr/>
          <a:lstStyle>
            <a:lvl1pPr>
              <a:defRPr>
                <a:solidFill>
                  <a:schemeClr val="tx2">
                    <a:lumMod val="90000"/>
                  </a:schemeClr>
                </a:solidFill>
              </a:defRPr>
            </a:lvl1pPr>
          </a:lstStyle>
          <a:p>
            <a:fld id="{C5FEC425-38EB-4C31-A115-909870F4944E}"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54496"/>
            <a:ext cx="546447" cy="413360"/>
          </a:xfrm>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10" name="Straight Connector 9">
            <a:extLst>
              <a:ext uri="{FF2B5EF4-FFF2-40B4-BE49-F238E27FC236}">
                <a16:creationId xmlns:a16="http://schemas.microsoft.com/office/drawing/2014/main" id="{2059084B-1C57-0F86-56B0-E7DC2934BA40}"/>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3344636A-F38C-DF3B-6439-B5B73A797B53}"/>
              </a:ext>
            </a:extLst>
          </p:cNvPr>
          <p:cNvCxnSpPr>
            <a:cxnSpLocks/>
          </p:cNvCxnSpPr>
          <p:nvPr/>
        </p:nvCxnSpPr>
        <p:spPr>
          <a:xfrm>
            <a:off x="0" y="5274776"/>
            <a:ext cx="12192000" cy="0"/>
          </a:xfrm>
          <a:prstGeom prst="line">
            <a:avLst/>
          </a:prstGeom>
          <a:ln w="9525">
            <a:solidFill>
              <a:schemeClr val="bg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270668"/>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453B8C54-B76A-4DD8-BD0B-11200408342B}" type="datetime1">
              <a:rPr lang="en-US" smtClean="0"/>
              <a:t>11/24/2025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8823852"/>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Statement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576945" y="1341912"/>
            <a:ext cx="7024439" cy="4120737"/>
          </a:xfrm>
        </p:spPr>
        <p:txBody>
          <a:bodyPr anchor="ctr">
            <a:normAutofit/>
          </a:bodyPr>
          <a:lstStyle>
            <a:lvl1pPr marL="0" indent="0" algn="ctr">
              <a:lnSpc>
                <a:spcPct val="75000"/>
              </a:lnSpc>
              <a:buNone/>
              <a:defRPr sz="5400" b="0">
                <a:solidFill>
                  <a:schemeClr val="tx2"/>
                </a:solidFill>
                <a:latin typeface="+mj-lt"/>
              </a:defRPr>
            </a:lvl1pPr>
            <a:lvl2pPr marL="228600" indent="0" algn="ctr">
              <a:lnSpc>
                <a:spcPct val="75000"/>
              </a:lnSpc>
              <a:buNone/>
              <a:defRPr sz="4800" b="0">
                <a:solidFill>
                  <a:schemeClr val="tx2"/>
                </a:solidFill>
                <a:latin typeface="+mj-lt"/>
              </a:defRPr>
            </a:lvl2pPr>
            <a:lvl3pPr marL="457200" indent="0" algn="ctr">
              <a:lnSpc>
                <a:spcPct val="75000"/>
              </a:lnSpc>
              <a:buNone/>
              <a:defRPr sz="4400" b="0">
                <a:solidFill>
                  <a:schemeClr val="tx2"/>
                </a:solidFill>
                <a:latin typeface="+mj-lt"/>
              </a:defRPr>
            </a:lvl3pPr>
            <a:lvl4pPr marL="685800" indent="0" algn="ctr">
              <a:lnSpc>
                <a:spcPct val="75000"/>
              </a:lnSpc>
              <a:buNone/>
              <a:defRPr sz="4000" b="0">
                <a:solidFill>
                  <a:schemeClr val="tx2"/>
                </a:solidFill>
                <a:latin typeface="+mj-lt"/>
              </a:defRPr>
            </a:lvl4pPr>
            <a:lvl5pPr marL="914400" indent="0" algn="ctr">
              <a:lnSpc>
                <a:spcPct val="75000"/>
              </a:lnSpc>
              <a:buNone/>
              <a:defRPr sz="3600" b="0">
                <a:solidFill>
                  <a:schemeClr val="tx2"/>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2" y="6264164"/>
            <a:ext cx="1679642" cy="413360"/>
          </a:xfrm>
        </p:spPr>
        <p:txBody>
          <a:bodyPr/>
          <a:lstStyle>
            <a:lvl1pPr>
              <a:defRPr>
                <a:solidFill>
                  <a:schemeClr val="tx2"/>
                </a:solidFill>
              </a:defRPr>
            </a:lvl1pPr>
          </a:lstStyle>
          <a:p>
            <a:fld id="{66BE189A-7DFE-4578-A781-50D475212B90}" type="datetime1">
              <a:rPr lang="en-US" smtClean="0"/>
              <a:t>11/24/2025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008063B-506A-41A1-A6EA-745A876C5191}"/>
              </a:ext>
            </a:extLst>
          </p:cNvPr>
          <p:cNvCxnSpPr>
            <a:cxnSpLocks/>
          </p:cNvCxnSpPr>
          <p:nvPr/>
        </p:nvCxnSpPr>
        <p:spPr>
          <a:xfrm>
            <a:off x="0" y="78162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2758C90-B148-7153-9C80-0F1076997894}"/>
              </a:ext>
            </a:extLst>
          </p:cNvPr>
          <p:cNvCxnSpPr>
            <a:cxnSpLocks/>
          </p:cNvCxnSpPr>
          <p:nvPr/>
        </p:nvCxnSpPr>
        <p:spPr>
          <a:xfrm>
            <a:off x="1693484"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75474C37-D361-EDB7-BCC5-35E1A6EC3D9B}"/>
              </a:ext>
            </a:extLst>
          </p:cNvPr>
          <p:cNvCxnSpPr>
            <a:cxnSpLocks/>
          </p:cNvCxnSpPr>
          <p:nvPr/>
        </p:nvCxnSpPr>
        <p:spPr>
          <a:xfrm>
            <a:off x="10491119" y="781627"/>
            <a:ext cx="0" cy="5276273"/>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090139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51725" y="1940090"/>
            <a:ext cx="10392476" cy="4614714"/>
          </a:xfrm>
        </p:spPr>
        <p:txBody>
          <a:bodyPr anchor="b">
            <a:noAutofit/>
          </a:bodyPr>
          <a:lstStyle>
            <a:lvl1pPr marL="0" indent="0">
              <a:lnSpc>
                <a:spcPct val="73000"/>
              </a:lnSpc>
              <a:buNone/>
              <a:defRPr sz="9600" b="0" cap="all" baseline="0">
                <a:solidFill>
                  <a:schemeClr val="tx2">
                    <a:lumMod val="75000"/>
                  </a:schemeClr>
                </a:solidFill>
                <a:latin typeface="+mj-lt"/>
              </a:defRPr>
            </a:lvl1pPr>
            <a:lvl2pPr marL="228600" indent="0">
              <a:lnSpc>
                <a:spcPct val="73000"/>
              </a:lnSpc>
              <a:buNone/>
              <a:defRPr sz="8800" b="0" cap="all" baseline="0">
                <a:solidFill>
                  <a:schemeClr val="tx2">
                    <a:lumMod val="75000"/>
                  </a:schemeClr>
                </a:solidFill>
                <a:latin typeface="+mj-lt"/>
              </a:defRPr>
            </a:lvl2pPr>
            <a:lvl3pPr marL="457200" indent="0">
              <a:lnSpc>
                <a:spcPct val="73000"/>
              </a:lnSpc>
              <a:buNone/>
              <a:defRPr sz="8000" b="0" cap="all" baseline="0">
                <a:solidFill>
                  <a:schemeClr val="tx2">
                    <a:lumMod val="75000"/>
                  </a:schemeClr>
                </a:solidFill>
                <a:latin typeface="+mj-lt"/>
              </a:defRPr>
            </a:lvl3pPr>
            <a:lvl4pPr marL="685800" indent="0">
              <a:lnSpc>
                <a:spcPct val="73000"/>
              </a:lnSpc>
              <a:buNone/>
              <a:defRPr sz="7200" b="0" cap="all" baseline="0">
                <a:solidFill>
                  <a:schemeClr val="tx2">
                    <a:lumMod val="75000"/>
                  </a:schemeClr>
                </a:solidFill>
                <a:latin typeface="+mj-lt"/>
              </a:defRPr>
            </a:lvl4pPr>
            <a:lvl5pPr marL="914400" indent="0">
              <a:lnSpc>
                <a:spcPct val="73000"/>
              </a:lnSpc>
              <a:buNone/>
              <a:defRPr sz="6600" b="0" cap="all" baseline="0">
                <a:solidFill>
                  <a:schemeClr val="tx2">
                    <a:lumMod val="75000"/>
                  </a:schemeClr>
                </a:solidFill>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lumMod val="90000"/>
                  </a:schemeClr>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lumMod val="90000"/>
                  </a:schemeClr>
                </a:solidFill>
              </a:defRPr>
            </a:lvl1pPr>
          </a:lstStyle>
          <a:p>
            <a:fld id="{386F9640-8612-4EBB-94A3-9F5B3C3C1651}" type="datetime1">
              <a:rPr lang="en-US" smtClean="0"/>
              <a:t>11/24/2025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lumMod val="90000"/>
                  </a:schemeClr>
                </a:solidFill>
              </a:defRPr>
            </a:lvl1pPr>
          </a:lstStyle>
          <a:p>
            <a:fld id="{753D0FD4-819D-4187-8797-C35567B41C78}" type="slidenum">
              <a:rPr lang="en-US" smtClean="0"/>
              <a:t>‹#›</a:t>
            </a:fld>
            <a:endParaRPr lang="en-US"/>
          </a:p>
        </p:txBody>
      </p:sp>
      <p:cxnSp>
        <p:nvCxnSpPr>
          <p:cNvPr id="8" name="Straight Connector 7">
            <a:extLst>
              <a:ext uri="{FF2B5EF4-FFF2-40B4-BE49-F238E27FC236}">
                <a16:creationId xmlns:a16="http://schemas.microsoft.com/office/drawing/2014/main" id="{3EBBBFEC-32A4-8333-CEC0-6858CB1833EF}"/>
              </a:ext>
            </a:extLst>
          </p:cNvPr>
          <p:cNvCxnSpPr>
            <a:cxnSpLocks/>
          </p:cNvCxnSpPr>
          <p:nvPr/>
        </p:nvCxnSpPr>
        <p:spPr>
          <a:xfrm>
            <a:off x="0" y="789563"/>
            <a:ext cx="12192000" cy="0"/>
          </a:xfrm>
          <a:prstGeom prst="line">
            <a:avLst/>
          </a:prstGeom>
          <a:ln w="9525">
            <a:solidFill>
              <a:schemeClr val="tx2">
                <a:lumMod val="9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8178486"/>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723098" y="-1133856"/>
            <a:ext cx="10090646"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384048"/>
            <a:ext cx="10090646" cy="4783756"/>
          </a:xfrm>
        </p:spPr>
        <p:txBody>
          <a:bodyPr anchor="t">
            <a:noAutofit/>
          </a:bodyPr>
          <a:lstStyle>
            <a:lvl1pPr marL="0" indent="0">
              <a:lnSpc>
                <a:spcPct val="100000"/>
              </a:lnSpc>
              <a:buNone/>
              <a:defRPr sz="7200" b="0">
                <a:solidFill>
                  <a:schemeClr val="accent1"/>
                </a:solidFill>
              </a:defRPr>
            </a:lvl1pPr>
            <a:lvl2pPr marL="228600" indent="0">
              <a:lnSpc>
                <a:spcPct val="100000"/>
              </a:lnSpc>
              <a:buNone/>
              <a:defRPr sz="6600" b="0">
                <a:solidFill>
                  <a:schemeClr val="accent1"/>
                </a:solidFill>
              </a:defRPr>
            </a:lvl2pPr>
            <a:lvl3pPr marL="457200" indent="0">
              <a:lnSpc>
                <a:spcPct val="100000"/>
              </a:lnSpc>
              <a:buNone/>
              <a:defRPr sz="6000" b="0">
                <a:solidFill>
                  <a:schemeClr val="accent1"/>
                </a:solidFill>
              </a:defRPr>
            </a:lvl3pPr>
            <a:lvl4pPr marL="685800" indent="0">
              <a:lnSpc>
                <a:spcPct val="100000"/>
              </a:lnSpc>
              <a:buNone/>
              <a:defRPr sz="5400" b="0">
                <a:solidFill>
                  <a:schemeClr val="accent1"/>
                </a:solidFill>
              </a:defRPr>
            </a:lvl4pPr>
            <a:lvl5pPr marL="914400" indent="0">
              <a:lnSpc>
                <a:spcPct val="100000"/>
              </a:lnSpc>
              <a:buNone/>
              <a:defRPr sz="4800" b="0">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4164"/>
            <a:ext cx="2963692" cy="413360"/>
          </a:xfrm>
        </p:spPr>
        <p:txBody>
          <a:bodyPr/>
          <a:lstStyle>
            <a:lvl1pPr>
              <a:defRPr>
                <a:solidFill>
                  <a:schemeClr val="tx2"/>
                </a:solidFill>
              </a:defRPr>
            </a:lvl1pPr>
          </a:lstStyle>
          <a:p>
            <a:r>
              <a:rPr lang="en-US"/>
              <a:t>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921741" y="6264164"/>
            <a:ext cx="2486677" cy="413360"/>
          </a:xfrm>
        </p:spPr>
        <p:txBody>
          <a:bodyPr/>
          <a:lstStyle>
            <a:lvl1pPr>
              <a:defRPr>
                <a:solidFill>
                  <a:schemeClr val="tx2"/>
                </a:solidFill>
              </a:defRPr>
            </a:lvl1pPr>
          </a:lstStyle>
          <a:p>
            <a:fld id="{9A3EC378-394E-4653-8FC8-8296D202D659}" type="datetime1">
              <a:rPr lang="en-US" smtClean="0"/>
              <a:t>11/24/2025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4164"/>
            <a:ext cx="546447" cy="413360"/>
          </a:xfrm>
        </p:spPr>
        <p:txBody>
          <a:bodyPr/>
          <a:lstStyle>
            <a:lvl1pPr>
              <a:defRPr>
                <a:solidFill>
                  <a:schemeClr val="tx2"/>
                </a:solidFill>
              </a:defRPr>
            </a:lvl1pPr>
          </a:lstStyle>
          <a:p>
            <a:fld id="{753D0FD4-819D-4187-8797-C35567B41C78}" type="slidenum">
              <a:rPr lang="en-US" smtClean="0"/>
              <a:t>‹#›</a:t>
            </a:fld>
            <a:endParaRPr lang="en-US"/>
          </a:p>
        </p:txBody>
      </p:sp>
      <p:cxnSp>
        <p:nvCxnSpPr>
          <p:cNvPr id="6" name="Straight Connector 5">
            <a:extLst>
              <a:ext uri="{FF2B5EF4-FFF2-40B4-BE49-F238E27FC236}">
                <a16:creationId xmlns:a16="http://schemas.microsoft.com/office/drawing/2014/main" id="{236ED6FE-B4BC-74F3-6CA8-3B4200CEE7FD}"/>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0510842"/>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15448BDD-274C-4BED-8350-833672089118}"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3412685"/>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90288" y="5232212"/>
            <a:ext cx="10515600" cy="749808"/>
          </a:xfrm>
        </p:spPr>
        <p:txBody>
          <a:bodyPr anchor="ctr">
            <a:normAutofit/>
          </a:bodyPr>
          <a:lstStyle>
            <a:lvl1pPr>
              <a:defRPr sz="1600" cap="all"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380011"/>
            <a:ext cx="9400032" cy="4164557"/>
          </a:xfrm>
        </p:spPr>
        <p:txBody>
          <a:bodyPr anchor="t">
            <a:normAutofit/>
          </a:bodyPr>
          <a:lstStyle>
            <a:lvl1pPr marL="274320" indent="-274320">
              <a:lnSpc>
                <a:spcPct val="80000"/>
              </a:lnSpc>
              <a:buNone/>
              <a:defRPr sz="6000" cap="none" baseline="0">
                <a:solidFill>
                  <a:schemeClr val="accent1"/>
                </a:solidFill>
                <a:latin typeface="+mj-lt"/>
              </a:defRPr>
            </a:lvl1pPr>
            <a:lvl2pPr marL="274320" indent="-274320">
              <a:lnSpc>
                <a:spcPct val="80000"/>
              </a:lnSpc>
              <a:buNone/>
              <a:defRPr sz="5400" cap="none" baseline="0">
                <a:solidFill>
                  <a:schemeClr val="accent1"/>
                </a:solidFill>
                <a:latin typeface="+mj-lt"/>
              </a:defRPr>
            </a:lvl2pPr>
            <a:lvl3pPr marL="274320" indent="-274320">
              <a:lnSpc>
                <a:spcPct val="80000"/>
              </a:lnSpc>
              <a:buNone/>
              <a:defRPr sz="4800" cap="none" baseline="0">
                <a:solidFill>
                  <a:schemeClr val="accent1"/>
                </a:solidFill>
                <a:latin typeface="+mj-lt"/>
              </a:defRPr>
            </a:lvl3pPr>
            <a:lvl4pPr marL="274320" indent="-274320">
              <a:lnSpc>
                <a:spcPct val="80000"/>
              </a:lnSpc>
              <a:buNone/>
              <a:defRPr sz="4400" cap="none" baseline="0">
                <a:solidFill>
                  <a:schemeClr val="accent1"/>
                </a:solidFill>
                <a:latin typeface="+mj-lt"/>
              </a:defRPr>
            </a:lvl4pPr>
            <a:lvl5pPr marL="274320" indent="-274320">
              <a:lnSpc>
                <a:spcPct val="80000"/>
              </a:lnSpc>
              <a:buNone/>
              <a:defRPr sz="4400" cap="none" baseline="0">
                <a:solidFill>
                  <a:schemeClr val="accent1"/>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90287"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6263640"/>
            <a:ext cx="2151180" cy="411480"/>
          </a:xfrm>
        </p:spPr>
        <p:txBody>
          <a:bodyPr/>
          <a:lstStyle>
            <a:lvl1pPr>
              <a:defRPr>
                <a:solidFill>
                  <a:schemeClr val="tx2"/>
                </a:solidFill>
              </a:defRPr>
            </a:lvl1pPr>
          </a:lstStyle>
          <a:p>
            <a:fld id="{C5523C14-B8E0-486C-AF8F-4829635E6A50}"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12" name="Straight Connector 11">
            <a:extLst>
              <a:ext uri="{FF2B5EF4-FFF2-40B4-BE49-F238E27FC236}">
                <a16:creationId xmlns:a16="http://schemas.microsoft.com/office/drawing/2014/main" id="{AC9507B5-45FD-E0F8-4B50-156739F3ED87}"/>
              </a:ext>
            </a:extLst>
          </p:cNvPr>
          <p:cNvCxnSpPr>
            <a:cxnSpLocks/>
          </p:cNvCxnSpPr>
          <p:nvPr/>
        </p:nvCxnSpPr>
        <p:spPr>
          <a:xfrm>
            <a:off x="0" y="48627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05964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Quot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51105"/>
            <a:ext cx="9299448" cy="1005109"/>
          </a:xfrm>
        </p:spPr>
        <p:txBody>
          <a:bodyPr anchor="ctr">
            <a:normAutofit/>
          </a:bodyPr>
          <a:lstStyle>
            <a:lvl1pPr>
              <a:defRPr sz="2000" cap="none" baseline="0">
                <a:solidFill>
                  <a:schemeClr val="tx2"/>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24712"/>
            <a:ext cx="9692640" cy="4187952"/>
          </a:xfrm>
        </p:spPr>
        <p:txBody>
          <a:bodyPr>
            <a:normAutofit/>
          </a:bodyPr>
          <a:lstStyle>
            <a:lvl1pPr marL="274320" indent="-274320">
              <a:lnSpc>
                <a:spcPct val="70000"/>
              </a:lnSpc>
              <a:buNone/>
              <a:defRPr sz="9600" cap="all" baseline="0">
                <a:solidFill>
                  <a:schemeClr val="tx2">
                    <a:lumMod val="75000"/>
                  </a:schemeClr>
                </a:solidFill>
                <a:latin typeface="+mj-lt"/>
              </a:defRPr>
            </a:lvl1pPr>
            <a:lvl2pPr marL="274320" indent="-274320">
              <a:lnSpc>
                <a:spcPct val="70000"/>
              </a:lnSpc>
              <a:buNone/>
              <a:defRPr sz="8800" cap="all" baseline="0">
                <a:solidFill>
                  <a:schemeClr val="accent2">
                    <a:lumMod val="20000"/>
                    <a:lumOff val="80000"/>
                  </a:schemeClr>
                </a:solidFill>
                <a:latin typeface="+mj-lt"/>
              </a:defRPr>
            </a:lvl2pPr>
            <a:lvl3pPr marL="274320" indent="-274320">
              <a:lnSpc>
                <a:spcPct val="70000"/>
              </a:lnSpc>
              <a:buNone/>
              <a:defRPr sz="8000" cap="all" baseline="0">
                <a:solidFill>
                  <a:schemeClr val="accent2">
                    <a:lumMod val="20000"/>
                    <a:lumOff val="80000"/>
                  </a:schemeClr>
                </a:solidFill>
                <a:latin typeface="+mj-lt"/>
              </a:defRPr>
            </a:lvl3pPr>
            <a:lvl4pPr marL="274320" indent="-274320">
              <a:lnSpc>
                <a:spcPct val="70000"/>
              </a:lnSpc>
              <a:buNone/>
              <a:defRPr sz="7200" cap="all" baseline="0">
                <a:solidFill>
                  <a:schemeClr val="accent2">
                    <a:lumMod val="20000"/>
                    <a:lumOff val="80000"/>
                  </a:schemeClr>
                </a:solidFill>
                <a:latin typeface="+mj-lt"/>
              </a:defRPr>
            </a:lvl4pPr>
            <a:lvl5pPr marL="274320" indent="-274320">
              <a:lnSpc>
                <a:spcPct val="70000"/>
              </a:lnSpc>
              <a:buNone/>
              <a:defRPr sz="7200" cap="all" baseline="0">
                <a:solidFill>
                  <a:schemeClr val="accent2">
                    <a:lumMod val="20000"/>
                    <a:lumOff val="80000"/>
                  </a:schemeClr>
                </a:solidFill>
                <a:latin typeface="+mj-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44572B0E-9936-490C-85D7-20C76E88EE7A}"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182936"/>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obj" preserve="1">
  <p:cSld name="Quot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521900" y="5209160"/>
            <a:ext cx="10698480" cy="832104"/>
          </a:xfrm>
        </p:spPr>
        <p:txBody>
          <a:bodyPr anchor="ctr">
            <a:normAutofit/>
          </a:bodyPr>
          <a:lstStyle>
            <a:lvl1pPr>
              <a:defRPr sz="2800" cap="all" baseline="0">
                <a:solidFill>
                  <a:schemeClr val="accent1"/>
                </a:solidFill>
                <a:latin typeface="+mj-lt"/>
              </a:defRPr>
            </a:lvl1pPr>
          </a:lstStyle>
          <a:p>
            <a:r>
              <a:rPr lang="en-US"/>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749808"/>
            <a:ext cx="9400032" cy="3867912"/>
          </a:xfrm>
        </p:spPr>
        <p:txBody>
          <a:bodyPr>
            <a:normAutofit/>
          </a:bodyPr>
          <a:lstStyle>
            <a:lvl1pPr marL="182880" indent="-182880">
              <a:lnSpc>
                <a:spcPct val="100000"/>
              </a:lnSpc>
              <a:buNone/>
              <a:defRPr sz="4000" cap="none" baseline="0">
                <a:solidFill>
                  <a:schemeClr val="tx2"/>
                </a:solidFill>
                <a:latin typeface="+mn-lt"/>
              </a:defRPr>
            </a:lvl1pPr>
            <a:lvl2pPr marL="182880" indent="-182880">
              <a:lnSpc>
                <a:spcPct val="100000"/>
              </a:lnSpc>
              <a:buNone/>
              <a:defRPr sz="3600" cap="none" baseline="0">
                <a:solidFill>
                  <a:schemeClr val="tx2"/>
                </a:solidFill>
                <a:latin typeface="+mn-lt"/>
              </a:defRPr>
            </a:lvl2pPr>
            <a:lvl3pPr marL="182880" indent="-182880">
              <a:lnSpc>
                <a:spcPct val="100000"/>
              </a:lnSpc>
              <a:buNone/>
              <a:defRPr sz="3200" cap="none" baseline="0">
                <a:solidFill>
                  <a:schemeClr val="tx2"/>
                </a:solidFill>
                <a:latin typeface="+mn-lt"/>
              </a:defRPr>
            </a:lvl3pPr>
            <a:lvl4pPr marL="182880" indent="-182880">
              <a:lnSpc>
                <a:spcPct val="100000"/>
              </a:lnSpc>
              <a:buNone/>
              <a:defRPr sz="2800" cap="none" baseline="0">
                <a:solidFill>
                  <a:schemeClr val="tx2"/>
                </a:solidFill>
                <a:latin typeface="+mn-lt"/>
              </a:defRPr>
            </a:lvl4pPr>
            <a:lvl5pPr marL="182880" indent="-182880">
              <a:lnSpc>
                <a:spcPct val="100000"/>
              </a:lnSpc>
              <a:buNone/>
              <a:defRPr sz="2800" cap="none" baseline="0">
                <a:solidFill>
                  <a:schemeClr val="tx2"/>
                </a:solidFill>
                <a:latin typeface="+mn-lt"/>
              </a:defRPr>
            </a:lvl5pPr>
          </a:lstStyle>
          <a:p>
            <a:pPr lvl="0"/>
            <a:r>
              <a:rPr lang="en-US"/>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lvl1pPr>
              <a:defRPr>
                <a:solidFill>
                  <a:schemeClr val="tx2"/>
                </a:solidFill>
              </a:defRPr>
            </a:lvl1pPr>
          </a:lstStyle>
          <a:p>
            <a:fld id="{18ECF368-9FBC-4241-9AEA-ADD9AF02F7A8}"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753D0FD4-819D-4187-8797-C35567B41C78}" type="slidenum">
              <a:rPr lang="en-US" smtClean="0"/>
              <a:t>‹#›</a:t>
            </a:fld>
            <a:endParaRPr lang="en-US"/>
          </a:p>
        </p:txBody>
      </p:sp>
      <p:cxnSp>
        <p:nvCxnSpPr>
          <p:cNvPr id="9" name="Straight Connector 8">
            <a:extLst>
              <a:ext uri="{FF2B5EF4-FFF2-40B4-BE49-F238E27FC236}">
                <a16:creationId xmlns:a16="http://schemas.microsoft.com/office/drawing/2014/main" id="{CE49C774-4A6A-D32B-59FA-2442E2B308E5}"/>
              </a:ext>
            </a:extLst>
          </p:cNvPr>
          <p:cNvCxnSpPr>
            <a:cxnSpLocks/>
          </p:cNvCxnSpPr>
          <p:nvPr/>
        </p:nvCxnSpPr>
        <p:spPr>
          <a:xfrm>
            <a:off x="0" y="5062769"/>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B23A142-B021-C473-CBA7-E0C9AA4E71D5}"/>
              </a:ext>
            </a:extLst>
          </p:cNvPr>
          <p:cNvCxnSpPr>
            <a:cxnSpLocks/>
          </p:cNvCxnSpPr>
          <p:nvPr/>
        </p:nvCxnSpPr>
        <p:spPr>
          <a:xfrm>
            <a:off x="0" y="6066955"/>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24484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r>
              <a:rPr lang="en-US"/>
              <a:t>Footer Text</a:t>
            </a:r>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9EAD527F-9C49-4481-A18C-80BA2EA99E79}" type="datetime1">
              <a:rPr lang="en-US" smtClean="0"/>
              <a:t>11/24/2025</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98740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r>
              <a:rPr lang="en-US"/>
              <a:t>Footer Text</a:t>
            </a:r>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38039EB-95FD-42A0-BF06-87A9D15142C9}" type="datetime1">
              <a:rPr lang="en-US" smtClean="0"/>
              <a:t>11/24/2025</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464347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r>
              <a:rPr lang="en-US"/>
              <a:t>Footer Text</a:t>
            </a:r>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6819701D-AA71-4F6F-B74A-236E07E9ABE4}" type="datetime1">
              <a:rPr lang="en-US" smtClean="0"/>
              <a:t>11/24/2025</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391569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r>
              <a:rPr lang="en-US"/>
              <a:t>Footer Text</a:t>
            </a:r>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A886D589-8B08-4190-9F3B-BA01ED2999CB}" type="datetime1">
              <a:rPr lang="en-US" smtClean="0"/>
              <a:t>11/24/2025</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753D0FD4-819D-4187-8797-C35567B41C78}" type="slidenum">
              <a:rPr lang="en-US" smtClean="0"/>
              <a:t>‹#›</a:t>
            </a:fld>
            <a:endParaRPr lang="en-US"/>
          </a:p>
        </p:txBody>
      </p:sp>
    </p:spTree>
    <p:extLst>
      <p:ext uri="{BB962C8B-B14F-4D97-AF65-F5344CB8AC3E}">
        <p14:creationId xmlns:p14="http://schemas.microsoft.com/office/powerpoint/2010/main" val="107859093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2BEA7-A772-B39C-F049-D8BA2D3F4EF5}"/>
              </a:ext>
            </a:extLst>
          </p:cNvPr>
          <p:cNvSpPr>
            <a:spLocks noGrp="1"/>
          </p:cNvSpPr>
          <p:nvPr>
            <p:ph type="title"/>
          </p:nvPr>
        </p:nvSpPr>
        <p:spPr>
          <a:xfrm>
            <a:off x="317774" y="1092200"/>
            <a:ext cx="3749040" cy="2907792"/>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71AADC46-B01E-DA2E-F24C-C48F5253DD00}"/>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B71A6063-F591-A804-79FE-A80AD399139E}"/>
              </a:ext>
            </a:extLst>
          </p:cNvPr>
          <p:cNvSpPr>
            <a:spLocks noGrp="1"/>
          </p:cNvSpPr>
          <p:nvPr>
            <p:ph type="dt" sz="half" idx="10"/>
          </p:nvPr>
        </p:nvSpPr>
        <p:spPr>
          <a:xfrm>
            <a:off x="4974336" y="207982"/>
            <a:ext cx="1921315" cy="413360"/>
          </a:xfrm>
        </p:spPr>
        <p:txBody>
          <a:bodyPr/>
          <a:lstStyle/>
          <a:p>
            <a:fld id="{F550E5DF-8560-4E07-A403-19861023D638}" type="datetime1">
              <a:rPr lang="en-US" smtClean="0"/>
              <a:t>11/24/2025</a:t>
            </a:fld>
            <a:endParaRPr lang="en-US"/>
          </a:p>
        </p:txBody>
      </p:sp>
      <p:sp>
        <p:nvSpPr>
          <p:cNvPr id="7" name="Slide Number Placeholder 6">
            <a:extLst>
              <a:ext uri="{FF2B5EF4-FFF2-40B4-BE49-F238E27FC236}">
                <a16:creationId xmlns:a16="http://schemas.microsoft.com/office/drawing/2014/main" id="{4BEFF439-6DA2-A61B-C94C-BEDC2411D6CC}"/>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0D5693C4-36AD-07F9-763E-EE5FC9DFB1AD}"/>
              </a:ext>
            </a:extLst>
          </p:cNvPr>
          <p:cNvSpPr>
            <a:spLocks noGrp="1"/>
          </p:cNvSpPr>
          <p:nvPr>
            <p:ph type="body" sz="half" idx="2"/>
          </p:nvPr>
        </p:nvSpPr>
        <p:spPr>
          <a:xfrm>
            <a:off x="317774" y="4096512"/>
            <a:ext cx="3749040" cy="232257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10FB4614-4148-D757-88D0-D93E5E1EA1A0}"/>
              </a:ext>
            </a:extLst>
          </p:cNvPr>
          <p:cNvSpPr>
            <a:spLocks noGrp="1"/>
          </p:cNvSpPr>
          <p:nvPr>
            <p:ph idx="1"/>
          </p:nvPr>
        </p:nvSpPr>
        <p:spPr>
          <a:xfrm>
            <a:off x="4974336" y="1092200"/>
            <a:ext cx="6858000" cy="53400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718336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EFA5E-0A3D-E6AD-3C21-DC40BCDEC609}"/>
              </a:ext>
            </a:extLst>
          </p:cNvPr>
          <p:cNvSpPr>
            <a:spLocks noGrp="1"/>
          </p:cNvSpPr>
          <p:nvPr>
            <p:ph type="title"/>
          </p:nvPr>
        </p:nvSpPr>
        <p:spPr>
          <a:xfrm>
            <a:off x="317773" y="1088136"/>
            <a:ext cx="3467048" cy="2905795"/>
          </a:xfrm>
        </p:spPr>
        <p:txBody>
          <a:bodyPr vert="horz" lIns="91440" tIns="45720" rIns="91440" bIns="45720" rtlCol="0" anchor="t">
            <a:normAutofit/>
          </a:bodyPr>
          <a:lstStyle>
            <a:lvl1pPr>
              <a:defRPr lang="en-US" sz="5400" dirty="0"/>
            </a:lvl1pPr>
          </a:lstStyle>
          <a:p>
            <a:pPr lvl="0"/>
            <a:r>
              <a:rPr lang="en-US"/>
              <a:t>Click to edit Master title style</a:t>
            </a:r>
          </a:p>
        </p:txBody>
      </p:sp>
      <p:sp>
        <p:nvSpPr>
          <p:cNvPr id="6" name="Footer Placeholder 5">
            <a:extLst>
              <a:ext uri="{FF2B5EF4-FFF2-40B4-BE49-F238E27FC236}">
                <a16:creationId xmlns:a16="http://schemas.microsoft.com/office/drawing/2014/main" id="{E7F485A3-3BFA-4B57-F6E5-5F41542B7BBD}"/>
              </a:ext>
            </a:extLst>
          </p:cNvPr>
          <p:cNvSpPr>
            <a:spLocks noGrp="1"/>
          </p:cNvSpPr>
          <p:nvPr>
            <p:ph type="ftr" sz="quarter" idx="11"/>
          </p:nvPr>
        </p:nvSpPr>
        <p:spPr/>
        <p:txBody>
          <a:bodyPr/>
          <a:lstStyle/>
          <a:p>
            <a:r>
              <a:rPr lang="en-US"/>
              <a:t>Footer Text</a:t>
            </a:r>
          </a:p>
        </p:txBody>
      </p:sp>
      <p:sp>
        <p:nvSpPr>
          <p:cNvPr id="5" name="Date Placeholder 4">
            <a:extLst>
              <a:ext uri="{FF2B5EF4-FFF2-40B4-BE49-F238E27FC236}">
                <a16:creationId xmlns:a16="http://schemas.microsoft.com/office/drawing/2014/main" id="{600AC9F0-6744-73C8-54FC-5C12BA7BF791}"/>
              </a:ext>
            </a:extLst>
          </p:cNvPr>
          <p:cNvSpPr>
            <a:spLocks noGrp="1"/>
          </p:cNvSpPr>
          <p:nvPr>
            <p:ph type="dt" sz="half" idx="10"/>
          </p:nvPr>
        </p:nvSpPr>
        <p:spPr>
          <a:xfrm>
            <a:off x="4292854" y="207982"/>
            <a:ext cx="2605980" cy="413360"/>
          </a:xfrm>
        </p:spPr>
        <p:txBody>
          <a:bodyPr/>
          <a:lstStyle/>
          <a:p>
            <a:fld id="{5629972A-00A4-4626-8EEC-CE2966C6B0BF}" type="datetime1">
              <a:rPr lang="en-US" smtClean="0"/>
              <a:t>11/24/2025</a:t>
            </a:fld>
            <a:endParaRPr lang="en-US"/>
          </a:p>
        </p:txBody>
      </p:sp>
      <p:sp>
        <p:nvSpPr>
          <p:cNvPr id="7" name="Slide Number Placeholder 6">
            <a:extLst>
              <a:ext uri="{FF2B5EF4-FFF2-40B4-BE49-F238E27FC236}">
                <a16:creationId xmlns:a16="http://schemas.microsoft.com/office/drawing/2014/main" id="{31BAB9F6-C801-466A-4C39-23DCB1CD5489}"/>
              </a:ext>
            </a:extLst>
          </p:cNvPr>
          <p:cNvSpPr>
            <a:spLocks noGrp="1"/>
          </p:cNvSpPr>
          <p:nvPr>
            <p:ph type="sldNum" sz="quarter" idx="12"/>
          </p:nvPr>
        </p:nvSpPr>
        <p:spPr/>
        <p:txBody>
          <a:bodyPr/>
          <a:lstStyle/>
          <a:p>
            <a:fld id="{753D0FD4-819D-4187-8797-C35567B41C78}" type="slidenum">
              <a:rPr lang="en-US" smtClean="0"/>
              <a:t>‹#›</a:t>
            </a:fld>
            <a:endParaRPr lang="en-US"/>
          </a:p>
        </p:txBody>
      </p:sp>
      <p:sp>
        <p:nvSpPr>
          <p:cNvPr id="4" name="Text Placeholder 3">
            <a:extLst>
              <a:ext uri="{FF2B5EF4-FFF2-40B4-BE49-F238E27FC236}">
                <a16:creationId xmlns:a16="http://schemas.microsoft.com/office/drawing/2014/main" id="{7CBA8418-7980-9A18-053B-82E4F16EBD61}"/>
              </a:ext>
            </a:extLst>
          </p:cNvPr>
          <p:cNvSpPr>
            <a:spLocks noGrp="1"/>
          </p:cNvSpPr>
          <p:nvPr>
            <p:ph type="body" sz="half" idx="2"/>
          </p:nvPr>
        </p:nvSpPr>
        <p:spPr>
          <a:xfrm>
            <a:off x="317773" y="4099034"/>
            <a:ext cx="3467048" cy="232562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126F9F06-BE63-8EE7-74C5-6D0E3F9B7571}"/>
              </a:ext>
            </a:extLst>
          </p:cNvPr>
          <p:cNvSpPr>
            <a:spLocks noGrp="1"/>
          </p:cNvSpPr>
          <p:nvPr>
            <p:ph type="pic" idx="1" hasCustomPrompt="1"/>
          </p:nvPr>
        </p:nvSpPr>
        <p:spPr>
          <a:xfrm>
            <a:off x="4292853" y="793729"/>
            <a:ext cx="7899147" cy="6073107"/>
          </a:xfrm>
          <a:blipFill>
            <a:blip r:embed="rId2">
              <a:alphaModFix amt="8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cxnSp>
        <p:nvCxnSpPr>
          <p:cNvPr id="9" name="Straight Connector 8">
            <a:extLst>
              <a:ext uri="{FF2B5EF4-FFF2-40B4-BE49-F238E27FC236}">
                <a16:creationId xmlns:a16="http://schemas.microsoft.com/office/drawing/2014/main" id="{CA44ED1E-1404-EA59-99E6-D28F5236A529}"/>
              </a:ext>
            </a:extLst>
          </p:cNvPr>
          <p:cNvCxnSpPr>
            <a:cxnSpLocks/>
          </p:cNvCxnSpPr>
          <p:nvPr/>
        </p:nvCxnSpPr>
        <p:spPr>
          <a:xfrm>
            <a:off x="4292853" y="784893"/>
            <a:ext cx="0" cy="607310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335496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12A08923-D58E-4822-B554-6A1173FCE25D}"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753D0FD4-819D-4187-8797-C35567B41C78}"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8475511"/>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r>
              <a:rPr lang="en-US"/>
              <a:t>Footer Text</a:t>
            </a:r>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0BF9E0-60DA-4D6D-8F14-825F152220D6}" type="datetime1">
              <a:rPr lang="en-US" smtClean="0"/>
              <a:t>11/24/2025</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753D0FD4-819D-4187-8797-C35567B41C78}"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6496275"/>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r>
              <a:rPr lang="en-US"/>
              <a:t>Footer Text</a:t>
            </a:r>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18A4B20A-718A-4149-B5D2-676E857EB828}" type="datetime1">
              <a:rPr lang="en-US" smtClean="0"/>
              <a:t>11/24/2025</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753D0FD4-819D-4187-8797-C35567B41C78}" type="slidenum">
              <a:rPr lang="en-US" smtClean="0"/>
              <a:t>‹#›</a:t>
            </a:fld>
            <a:endParaRPr lang="en-US"/>
          </a:p>
        </p:txBody>
      </p:sp>
    </p:spTree>
    <p:extLst>
      <p:ext uri="{BB962C8B-B14F-4D97-AF65-F5344CB8AC3E}">
        <p14:creationId xmlns:p14="http://schemas.microsoft.com/office/powerpoint/2010/main" val="1128058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Lst>
  <p:hf hdr="0"/>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BA7EC-8893-C597-7834-5DB3A701AF75}"/>
              </a:ext>
            </a:extLst>
          </p:cNvPr>
          <p:cNvSpPr>
            <a:spLocks noGrp="1"/>
          </p:cNvSpPr>
          <p:nvPr>
            <p:ph type="ctrTitle"/>
          </p:nvPr>
        </p:nvSpPr>
        <p:spPr>
          <a:xfrm>
            <a:off x="320040" y="1426464"/>
            <a:ext cx="9528048" cy="4183468"/>
          </a:xfrm>
        </p:spPr>
        <p:txBody>
          <a:bodyPr anchor="b">
            <a:normAutofit/>
          </a:bodyPr>
          <a:lstStyle/>
          <a:p>
            <a:r>
              <a:rPr lang="en-US"/>
              <a:t>AetherInc: Privacy-First AI Paralegal Pitch Deck</a:t>
            </a:r>
          </a:p>
        </p:txBody>
      </p:sp>
      <p:sp>
        <p:nvSpPr>
          <p:cNvPr id="3" name="Subtitle 2">
            <a:extLst>
              <a:ext uri="{FF2B5EF4-FFF2-40B4-BE49-F238E27FC236}">
                <a16:creationId xmlns:a16="http://schemas.microsoft.com/office/drawing/2014/main" id="{22AACE71-9156-D4D1-F867-4D0E2896AA9E}"/>
              </a:ext>
            </a:extLst>
          </p:cNvPr>
          <p:cNvSpPr>
            <a:spLocks noGrp="1"/>
          </p:cNvSpPr>
          <p:nvPr>
            <p:ph type="subTitle" idx="1"/>
          </p:nvPr>
        </p:nvSpPr>
        <p:spPr>
          <a:xfrm>
            <a:off x="320039" y="5779008"/>
            <a:ext cx="9528047" cy="923544"/>
          </a:xfrm>
        </p:spPr>
        <p:txBody>
          <a:bodyPr>
            <a:normAutofit/>
          </a:bodyPr>
          <a:lstStyle/>
          <a:p>
            <a:r>
              <a:rPr lang="en-US"/>
              <a:t>Innovative AI solutions enhancing legal privacy and efficiency</a:t>
            </a:r>
          </a:p>
        </p:txBody>
      </p:sp>
      <p:sp>
        <p:nvSpPr>
          <p:cNvPr id="6" name="Date Placeholder 5">
            <a:extLst>
              <a:ext uri="{FF2B5EF4-FFF2-40B4-BE49-F238E27FC236}">
                <a16:creationId xmlns:a16="http://schemas.microsoft.com/office/drawing/2014/main" id="{A91367BF-2476-7332-2785-298A7AE398DB}"/>
              </a:ext>
            </a:extLst>
          </p:cNvPr>
          <p:cNvSpPr>
            <a:spLocks noGrp="1"/>
          </p:cNvSpPr>
          <p:nvPr>
            <p:ph type="dt" sz="half" idx="10"/>
          </p:nvPr>
        </p:nvSpPr>
        <p:spPr>
          <a:xfrm>
            <a:off x="7680069" y="207982"/>
            <a:ext cx="2168017" cy="413360"/>
          </a:xfrm>
        </p:spPr>
        <p:txBody>
          <a:bodyPr anchor="ctr">
            <a:normAutofit/>
          </a:bodyPr>
          <a:lstStyle/>
          <a:p>
            <a:pPr>
              <a:spcAft>
                <a:spcPts val="600"/>
              </a:spcAft>
            </a:pPr>
            <a:fld id="{BBB8170F-0370-4A38-8BF3-83D69476AE62}" type="datetime1">
              <a:rPr lang="en-US" smtClean="0"/>
              <a:pPr>
                <a:spcAft>
                  <a:spcPts val="600"/>
                </a:spcAft>
              </a:pPr>
              <a:t>11/24/2025</a:t>
            </a:fld>
            <a:endParaRPr lang="en-US"/>
          </a:p>
        </p:txBody>
      </p:sp>
      <p:sp>
        <p:nvSpPr>
          <p:cNvPr id="7" name="Slide Number Placeholder 6">
            <a:extLst>
              <a:ext uri="{FF2B5EF4-FFF2-40B4-BE49-F238E27FC236}">
                <a16:creationId xmlns:a16="http://schemas.microsoft.com/office/drawing/2014/main" id="{BF0A2920-1DED-CB02-58E1-3E32DF570ABF}"/>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a:t>
            </a:fld>
            <a:endParaRPr lang="en-US"/>
          </a:p>
        </p:txBody>
      </p:sp>
    </p:spTree>
    <p:extLst>
      <p:ext uri="{BB962C8B-B14F-4D97-AF65-F5344CB8AC3E}">
        <p14:creationId xmlns:p14="http://schemas.microsoft.com/office/powerpoint/2010/main" val="357756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D931-532F-C399-F8F1-19E65F281D1C}"/>
              </a:ext>
            </a:extLst>
          </p:cNvPr>
          <p:cNvSpPr>
            <a:spLocks noGrp="1"/>
          </p:cNvSpPr>
          <p:nvPr>
            <p:ph type="title"/>
          </p:nvPr>
        </p:nvSpPr>
        <p:spPr>
          <a:xfrm>
            <a:off x="64008" y="1435608"/>
            <a:ext cx="11594592" cy="5559552"/>
          </a:xfrm>
        </p:spPr>
        <p:txBody>
          <a:bodyPr anchor="b">
            <a:normAutofit/>
          </a:bodyPr>
          <a:lstStyle/>
          <a:p>
            <a:r>
              <a:rPr lang="en-US"/>
              <a:t>Introduction</a:t>
            </a:r>
          </a:p>
        </p:txBody>
      </p:sp>
      <p:sp>
        <p:nvSpPr>
          <p:cNvPr id="6" name="Date Placeholder 5">
            <a:extLst>
              <a:ext uri="{FF2B5EF4-FFF2-40B4-BE49-F238E27FC236}">
                <a16:creationId xmlns:a16="http://schemas.microsoft.com/office/drawing/2014/main" id="{0B4B246B-3011-EF39-4C0A-92B7450409A1}"/>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11/24/2025</a:t>
            </a:fld>
            <a:endParaRPr lang="en-US"/>
          </a:p>
        </p:txBody>
      </p:sp>
      <p:sp>
        <p:nvSpPr>
          <p:cNvPr id="7" name="Slide Number Placeholder 6">
            <a:extLst>
              <a:ext uri="{FF2B5EF4-FFF2-40B4-BE49-F238E27FC236}">
                <a16:creationId xmlns:a16="http://schemas.microsoft.com/office/drawing/2014/main" id="{CBA3F190-E182-C903-7B85-6D69CBB4CF34}"/>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2</a:t>
            </a:fld>
            <a:endParaRPr lang="en-US"/>
          </a:p>
        </p:txBody>
      </p:sp>
    </p:spTree>
    <p:extLst>
      <p:ext uri="{BB962C8B-B14F-4D97-AF65-F5344CB8AC3E}">
        <p14:creationId xmlns:p14="http://schemas.microsoft.com/office/powerpoint/2010/main" val="15761854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9CD6D-51B2-03BF-39AC-505FC1943AB4}"/>
              </a:ext>
            </a:extLst>
          </p:cNvPr>
          <p:cNvSpPr>
            <a:spLocks noGrp="1"/>
          </p:cNvSpPr>
          <p:nvPr>
            <p:ph type="title"/>
          </p:nvPr>
        </p:nvSpPr>
        <p:spPr>
          <a:xfrm>
            <a:off x="393192" y="1249959"/>
            <a:ext cx="4085912" cy="5125673"/>
          </a:xfrm>
        </p:spPr>
        <p:txBody>
          <a:bodyPr anchor="t">
            <a:normAutofit/>
          </a:bodyPr>
          <a:lstStyle/>
          <a:p>
            <a:r>
              <a:rPr lang="en-US"/>
              <a:t>Company Overview and Vision</a:t>
            </a:r>
          </a:p>
        </p:txBody>
      </p:sp>
      <p:sp>
        <p:nvSpPr>
          <p:cNvPr id="3" name="Content Placeholder 2">
            <a:extLst>
              <a:ext uri="{FF2B5EF4-FFF2-40B4-BE49-F238E27FC236}">
                <a16:creationId xmlns:a16="http://schemas.microsoft.com/office/drawing/2014/main" id="{00ABC4A9-F499-6A98-A7CB-ACC9E885AF3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Startup Mission</a:t>
            </a:r>
          </a:p>
          <a:p>
            <a:pPr marL="0" lvl="1" indent="0">
              <a:buFont typeface="Arial" panose="020B0604020202020204" pitchFamily="34" charset="0"/>
              <a:buNone/>
            </a:pPr>
            <a:r>
              <a:rPr lang="en-US" sz="1400"/>
              <a:t>AetherInc aims to revolutionize legal technology with privacy-first AI solutions developed from Glasgow.</a:t>
            </a:r>
          </a:p>
          <a:p>
            <a:pPr marL="0" indent="0">
              <a:spcBef>
                <a:spcPts val="2500"/>
              </a:spcBef>
              <a:buFont typeface="Arial" panose="020B0604020202020204" pitchFamily="34" charset="0"/>
              <a:buNone/>
            </a:pPr>
            <a:r>
              <a:rPr lang="en-US" sz="1400" b="1"/>
              <a:t>Flagship Product GURU</a:t>
            </a:r>
          </a:p>
          <a:p>
            <a:pPr marL="0" lvl="1" indent="0">
              <a:buFont typeface="Arial" panose="020B0604020202020204" pitchFamily="34" charset="0"/>
              <a:buNone/>
            </a:pPr>
            <a:r>
              <a:rPr lang="en-US" sz="1400"/>
              <a:t>GURU is an on-device AI paralegal assistant designed to eliminate cloud processing risks and ensure data security.</a:t>
            </a:r>
          </a:p>
          <a:p>
            <a:pPr marL="0" indent="0">
              <a:spcBef>
                <a:spcPts val="2500"/>
              </a:spcBef>
              <a:buFont typeface="Arial" panose="020B0604020202020204" pitchFamily="34" charset="0"/>
              <a:buNone/>
            </a:pPr>
            <a:r>
              <a:rPr lang="en-US" sz="1400" b="1"/>
              <a:t>Company Vision</a:t>
            </a:r>
          </a:p>
          <a:p>
            <a:pPr marL="0" lvl="1" indent="0">
              <a:buFont typeface="Arial" panose="020B0604020202020204" pitchFamily="34" charset="0"/>
              <a:buNone/>
            </a:pPr>
            <a:r>
              <a:rPr lang="en-US" sz="1400"/>
              <a:t>Empowering legal firms with tools ensuring confidentiality, efficiency, compliance, and data sovereignty.</a:t>
            </a:r>
          </a:p>
          <a:p>
            <a:pPr marL="0" indent="0">
              <a:spcBef>
                <a:spcPts val="2500"/>
              </a:spcBef>
              <a:buFont typeface="Arial" panose="020B0604020202020204" pitchFamily="34" charset="0"/>
              <a:buNone/>
            </a:pPr>
            <a:r>
              <a:rPr lang="en-US" sz="1400" b="1"/>
              <a:t>Addressing Data Concerns</a:t>
            </a:r>
          </a:p>
          <a:p>
            <a:pPr marL="0" lvl="1" indent="0">
              <a:buFont typeface="Arial" panose="020B0604020202020204" pitchFamily="34" charset="0"/>
              <a:buNone/>
            </a:pPr>
            <a:r>
              <a:rPr lang="en-US" sz="1400"/>
              <a:t>Focus on local AI processing to mitigate data breaches and regulatory compliance risks in the legal sector.</a:t>
            </a:r>
          </a:p>
        </p:txBody>
      </p:sp>
      <p:sp>
        <p:nvSpPr>
          <p:cNvPr id="5" name="Date Placeholder 4">
            <a:extLst>
              <a:ext uri="{FF2B5EF4-FFF2-40B4-BE49-F238E27FC236}">
                <a16:creationId xmlns:a16="http://schemas.microsoft.com/office/drawing/2014/main" id="{084F14FB-0EC4-4D85-AAC3-3B5469665E2D}"/>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A3EE46F6-02A9-48E0-D438-8120083B75F3}"/>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3</a:t>
            </a:fld>
            <a:endParaRPr lang="en-US"/>
          </a:p>
        </p:txBody>
      </p:sp>
    </p:spTree>
    <p:extLst>
      <p:ext uri="{BB962C8B-B14F-4D97-AF65-F5344CB8AC3E}">
        <p14:creationId xmlns:p14="http://schemas.microsoft.com/office/powerpoint/2010/main" val="40717457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D8E03-7215-9A5F-9BD6-806775AEAE53}"/>
              </a:ext>
            </a:extLst>
          </p:cNvPr>
          <p:cNvSpPr>
            <a:spLocks noGrp="1"/>
          </p:cNvSpPr>
          <p:nvPr>
            <p:ph type="title"/>
          </p:nvPr>
        </p:nvSpPr>
        <p:spPr>
          <a:xfrm>
            <a:off x="64008" y="1435608"/>
            <a:ext cx="11594592" cy="5559552"/>
          </a:xfrm>
        </p:spPr>
        <p:txBody>
          <a:bodyPr anchor="b">
            <a:normAutofit/>
          </a:bodyPr>
          <a:lstStyle/>
          <a:p>
            <a:r>
              <a:rPr lang="en-US"/>
              <a:t>Problem and Market Opportunity</a:t>
            </a:r>
          </a:p>
        </p:txBody>
      </p:sp>
      <p:sp>
        <p:nvSpPr>
          <p:cNvPr id="6" name="Date Placeholder 5">
            <a:extLst>
              <a:ext uri="{FF2B5EF4-FFF2-40B4-BE49-F238E27FC236}">
                <a16:creationId xmlns:a16="http://schemas.microsoft.com/office/drawing/2014/main" id="{8F034821-441E-D72C-79FA-F021F40B520E}"/>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11/24/2025</a:t>
            </a:fld>
            <a:endParaRPr lang="en-US"/>
          </a:p>
        </p:txBody>
      </p:sp>
      <p:sp>
        <p:nvSpPr>
          <p:cNvPr id="7" name="Slide Number Placeholder 6">
            <a:extLst>
              <a:ext uri="{FF2B5EF4-FFF2-40B4-BE49-F238E27FC236}">
                <a16:creationId xmlns:a16="http://schemas.microsoft.com/office/drawing/2014/main" id="{28C23191-E37A-30FF-8053-C60E0913EFAA}"/>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4</a:t>
            </a:fld>
            <a:endParaRPr lang="en-US"/>
          </a:p>
        </p:txBody>
      </p:sp>
    </p:spTree>
    <p:extLst>
      <p:ext uri="{BB962C8B-B14F-4D97-AF65-F5344CB8AC3E}">
        <p14:creationId xmlns:p14="http://schemas.microsoft.com/office/powerpoint/2010/main" val="10668403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062AA-C59F-B962-B5B0-50A51FA14D46}"/>
              </a:ext>
            </a:extLst>
          </p:cNvPr>
          <p:cNvSpPr>
            <a:spLocks noGrp="1"/>
          </p:cNvSpPr>
          <p:nvPr>
            <p:ph type="title"/>
          </p:nvPr>
        </p:nvSpPr>
        <p:spPr>
          <a:xfrm>
            <a:off x="393192" y="1249959"/>
            <a:ext cx="4085912" cy="5125673"/>
          </a:xfrm>
        </p:spPr>
        <p:txBody>
          <a:bodyPr anchor="t">
            <a:normAutofit/>
          </a:bodyPr>
          <a:lstStyle/>
          <a:p>
            <a:r>
              <a:rPr lang="en-US"/>
              <a:t>Challenges in Legal Workflows</a:t>
            </a:r>
          </a:p>
        </p:txBody>
      </p:sp>
      <p:sp>
        <p:nvSpPr>
          <p:cNvPr id="3" name="Content Placeholder 2">
            <a:extLst>
              <a:ext uri="{FF2B5EF4-FFF2-40B4-BE49-F238E27FC236}">
                <a16:creationId xmlns:a16="http://schemas.microsoft.com/office/drawing/2014/main" id="{3C33A26A-7BAC-2CF5-F755-A28E64CFC10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Document Review Challenges</a:t>
            </a:r>
          </a:p>
          <a:p>
            <a:pPr marL="0" lvl="1" indent="0">
              <a:buFont typeface="Arial" panose="020B0604020202020204" pitchFamily="34" charset="0"/>
              <a:buNone/>
            </a:pPr>
            <a:r>
              <a:rPr lang="en-US" sz="1400"/>
              <a:t>Legal firms face overwhelming document review workloads that are time-consuming and prone to errors.</a:t>
            </a:r>
          </a:p>
          <a:p>
            <a:pPr marL="0" indent="0">
              <a:spcBef>
                <a:spcPts val="2500"/>
              </a:spcBef>
              <a:buFont typeface="Arial" panose="020B0604020202020204" pitchFamily="34" charset="0"/>
              <a:buNone/>
            </a:pPr>
            <a:r>
              <a:rPr lang="en-US" sz="1400" b="1"/>
              <a:t>Security and Compliance Risks</a:t>
            </a:r>
          </a:p>
          <a:p>
            <a:pPr marL="0" lvl="1" indent="0">
              <a:buFont typeface="Arial" panose="020B0604020202020204" pitchFamily="34" charset="0"/>
              <a:buNone/>
            </a:pPr>
            <a:r>
              <a:rPr lang="en-US" sz="1400"/>
              <a:t>Cloud-based AI solutions pose security vulnerabilities risking sensitive client data and regulatory non-compliance.</a:t>
            </a:r>
          </a:p>
          <a:p>
            <a:pPr marL="0" indent="0">
              <a:spcBef>
                <a:spcPts val="2500"/>
              </a:spcBef>
              <a:buFont typeface="Arial" panose="020B0604020202020204" pitchFamily="34" charset="0"/>
              <a:buNone/>
            </a:pPr>
            <a:r>
              <a:rPr lang="en-US" sz="1400" b="1"/>
              <a:t>Operational Costs and Pricing</a:t>
            </a:r>
          </a:p>
          <a:p>
            <a:pPr marL="0" lvl="1" indent="0">
              <a:buFont typeface="Arial" panose="020B0604020202020204" pitchFamily="34" charset="0"/>
              <a:buNone/>
            </a:pPr>
            <a:r>
              <a:rPr lang="en-US" sz="1400"/>
              <a:t>Rising operational costs and unpredictable pricing models challenge legal firms’ efficiency and budgeting.</a:t>
            </a:r>
          </a:p>
          <a:p>
            <a:pPr marL="0" indent="0">
              <a:spcBef>
                <a:spcPts val="2500"/>
              </a:spcBef>
              <a:buFont typeface="Arial" panose="020B0604020202020204" pitchFamily="34" charset="0"/>
              <a:buNone/>
            </a:pPr>
            <a:r>
              <a:rPr lang="en-US" sz="1400" b="1"/>
              <a:t>Need for Tailored Solutions</a:t>
            </a:r>
          </a:p>
          <a:p>
            <a:pPr marL="0" lvl="1" indent="0">
              <a:buFont typeface="Arial" panose="020B0604020202020204" pitchFamily="34" charset="0"/>
              <a:buNone/>
            </a:pPr>
            <a:r>
              <a:rPr lang="en-US" sz="1400"/>
              <a:t>There is an urgent need for secure, efficient, cost-effective legal workflow solutions prioritizing confidentiality.</a:t>
            </a:r>
          </a:p>
        </p:txBody>
      </p:sp>
      <p:sp>
        <p:nvSpPr>
          <p:cNvPr id="5" name="Date Placeholder 4">
            <a:extLst>
              <a:ext uri="{FF2B5EF4-FFF2-40B4-BE49-F238E27FC236}">
                <a16:creationId xmlns:a16="http://schemas.microsoft.com/office/drawing/2014/main" id="{9DFDE986-73D5-83CC-0D3D-BF39642AEBC3}"/>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49E5BE08-82BB-CCCF-8586-A5CDFF37F6AD}"/>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5</a:t>
            </a:fld>
            <a:endParaRPr lang="en-US"/>
          </a:p>
        </p:txBody>
      </p:sp>
    </p:spTree>
    <p:extLst>
      <p:ext uri="{BB962C8B-B14F-4D97-AF65-F5344CB8AC3E}">
        <p14:creationId xmlns:p14="http://schemas.microsoft.com/office/powerpoint/2010/main" val="203721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5C9A9-40CF-BB21-FB96-E1AC1DE4F988}"/>
              </a:ext>
            </a:extLst>
          </p:cNvPr>
          <p:cNvSpPr>
            <a:spLocks noGrp="1"/>
          </p:cNvSpPr>
          <p:nvPr>
            <p:ph type="title"/>
          </p:nvPr>
        </p:nvSpPr>
        <p:spPr>
          <a:xfrm>
            <a:off x="393192" y="1249959"/>
            <a:ext cx="4085912" cy="5125673"/>
          </a:xfrm>
        </p:spPr>
        <p:txBody>
          <a:bodyPr anchor="t">
            <a:normAutofit/>
          </a:bodyPr>
          <a:lstStyle/>
          <a:p>
            <a:r>
              <a:rPr lang="en-US"/>
              <a:t>Market Potential for Legal AI</a:t>
            </a:r>
          </a:p>
        </p:txBody>
      </p:sp>
      <p:sp>
        <p:nvSpPr>
          <p:cNvPr id="3" name="Content Placeholder 2">
            <a:extLst>
              <a:ext uri="{FF2B5EF4-FFF2-40B4-BE49-F238E27FC236}">
                <a16:creationId xmlns:a16="http://schemas.microsoft.com/office/drawing/2014/main" id="{D1A48923-E383-8D07-4F80-5749D1A74FF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Rapid Market Growth</a:t>
            </a:r>
          </a:p>
          <a:p>
            <a:pPr marL="0" lvl="1" indent="0">
              <a:buFont typeface="Arial" panose="020B0604020202020204" pitchFamily="34" charset="0"/>
              <a:buNone/>
            </a:pPr>
            <a:r>
              <a:rPr lang="en-US" sz="1400"/>
              <a:t>LegalTech is rapidly expanding with projections reaching billions of pounds by 2030 due to automation and efficiency demands.</a:t>
            </a:r>
          </a:p>
          <a:p>
            <a:pPr marL="0" indent="0">
              <a:spcBef>
                <a:spcPts val="2500"/>
              </a:spcBef>
              <a:buFont typeface="Arial" panose="020B0604020202020204" pitchFamily="34" charset="0"/>
              <a:buNone/>
            </a:pPr>
            <a:r>
              <a:rPr lang="en-US" sz="1400" b="1"/>
              <a:t>Demand for AI Tools</a:t>
            </a:r>
          </a:p>
          <a:p>
            <a:pPr marL="0" lvl="1" indent="0">
              <a:buFont typeface="Arial" panose="020B0604020202020204" pitchFamily="34" charset="0"/>
              <a:buNone/>
            </a:pPr>
            <a:r>
              <a:rPr lang="en-US" sz="1400"/>
              <a:t>AI-powered solutions are essential for law firms and compliance teams to streamline legal processes and reduce costs effectively.</a:t>
            </a:r>
          </a:p>
          <a:p>
            <a:pPr marL="0" indent="0">
              <a:spcBef>
                <a:spcPts val="2500"/>
              </a:spcBef>
              <a:buFont typeface="Arial" panose="020B0604020202020204" pitchFamily="34" charset="0"/>
              <a:buNone/>
            </a:pPr>
            <a:r>
              <a:rPr lang="en-US" sz="1400" b="1"/>
              <a:t>Privacy-Focused Solutions</a:t>
            </a:r>
          </a:p>
          <a:p>
            <a:pPr marL="0" lvl="1" indent="0">
              <a:buFont typeface="Arial" panose="020B0604020202020204" pitchFamily="34" charset="0"/>
              <a:buNone/>
            </a:pPr>
            <a:r>
              <a:rPr lang="en-US" sz="1400"/>
              <a:t>Market lacks strong privacy-centric AI; solutions with privacy-by-design and on-device processing offer competitive advantage.</a:t>
            </a:r>
          </a:p>
          <a:p>
            <a:pPr marL="0" indent="0">
              <a:spcBef>
                <a:spcPts val="2500"/>
              </a:spcBef>
              <a:buFont typeface="Arial" panose="020B0604020202020204" pitchFamily="34" charset="0"/>
              <a:buNone/>
            </a:pPr>
            <a:r>
              <a:rPr lang="en-US" sz="1400" b="1"/>
              <a:t>Competitive Advantage</a:t>
            </a:r>
          </a:p>
          <a:p>
            <a:pPr marL="0" lvl="1" indent="0">
              <a:buFont typeface="Arial" panose="020B0604020202020204" pitchFamily="34" charset="0"/>
              <a:buNone/>
            </a:pPr>
            <a:r>
              <a:rPr lang="en-US" sz="1400"/>
              <a:t>Offering predictable, non-scaling costs and avoiding cloud dependency appeals to firms, enhancing market position.</a:t>
            </a:r>
          </a:p>
        </p:txBody>
      </p:sp>
      <p:sp>
        <p:nvSpPr>
          <p:cNvPr id="5" name="Date Placeholder 4">
            <a:extLst>
              <a:ext uri="{FF2B5EF4-FFF2-40B4-BE49-F238E27FC236}">
                <a16:creationId xmlns:a16="http://schemas.microsoft.com/office/drawing/2014/main" id="{4B0CBE26-A8B5-8FCC-1573-9DE2981F8D54}"/>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62C531C7-5960-1E03-840C-F5CE763D5F3F}"/>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6</a:t>
            </a:fld>
            <a:endParaRPr lang="en-US"/>
          </a:p>
        </p:txBody>
      </p:sp>
    </p:spTree>
    <p:extLst>
      <p:ext uri="{BB962C8B-B14F-4D97-AF65-F5344CB8AC3E}">
        <p14:creationId xmlns:p14="http://schemas.microsoft.com/office/powerpoint/2010/main" val="21013444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335FB-CA2A-CDD6-4BA5-182E30976EB7}"/>
              </a:ext>
            </a:extLst>
          </p:cNvPr>
          <p:cNvSpPr>
            <a:spLocks noGrp="1"/>
          </p:cNvSpPr>
          <p:nvPr>
            <p:ph type="title"/>
          </p:nvPr>
        </p:nvSpPr>
        <p:spPr>
          <a:xfrm>
            <a:off x="64008" y="1435608"/>
            <a:ext cx="11594592" cy="5559552"/>
          </a:xfrm>
        </p:spPr>
        <p:txBody>
          <a:bodyPr anchor="b">
            <a:normAutofit/>
          </a:bodyPr>
          <a:lstStyle/>
          <a:p>
            <a:r>
              <a:rPr lang="en-US"/>
              <a:t>Solution and Differentiators</a:t>
            </a:r>
          </a:p>
        </p:txBody>
      </p:sp>
      <p:sp>
        <p:nvSpPr>
          <p:cNvPr id="6" name="Date Placeholder 5">
            <a:extLst>
              <a:ext uri="{FF2B5EF4-FFF2-40B4-BE49-F238E27FC236}">
                <a16:creationId xmlns:a16="http://schemas.microsoft.com/office/drawing/2014/main" id="{7D664485-218A-4319-A8B0-3C84F045C8F2}"/>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11/24/2025</a:t>
            </a:fld>
            <a:endParaRPr lang="en-US"/>
          </a:p>
        </p:txBody>
      </p:sp>
      <p:sp>
        <p:nvSpPr>
          <p:cNvPr id="7" name="Slide Number Placeholder 6">
            <a:extLst>
              <a:ext uri="{FF2B5EF4-FFF2-40B4-BE49-F238E27FC236}">
                <a16:creationId xmlns:a16="http://schemas.microsoft.com/office/drawing/2014/main" id="{B3DAEE73-01E8-E6F2-E53D-EE133CB403E8}"/>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7</a:t>
            </a:fld>
            <a:endParaRPr lang="en-US"/>
          </a:p>
        </p:txBody>
      </p:sp>
    </p:spTree>
    <p:extLst>
      <p:ext uri="{BB962C8B-B14F-4D97-AF65-F5344CB8AC3E}">
        <p14:creationId xmlns:p14="http://schemas.microsoft.com/office/powerpoint/2010/main" val="3869068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B85A7-5783-F43C-4884-A8D38B3F029E}"/>
              </a:ext>
            </a:extLst>
          </p:cNvPr>
          <p:cNvSpPr>
            <a:spLocks noGrp="1"/>
          </p:cNvSpPr>
          <p:nvPr>
            <p:ph type="title"/>
          </p:nvPr>
        </p:nvSpPr>
        <p:spPr>
          <a:xfrm>
            <a:off x="393192" y="1249959"/>
            <a:ext cx="4085912" cy="5125673"/>
          </a:xfrm>
        </p:spPr>
        <p:txBody>
          <a:bodyPr anchor="t">
            <a:normAutofit/>
          </a:bodyPr>
          <a:lstStyle/>
          <a:p>
            <a:r>
              <a:rPr lang="en-US"/>
              <a:t>GURU: Privacy-First AI Paralegal</a:t>
            </a:r>
          </a:p>
        </p:txBody>
      </p:sp>
      <p:sp>
        <p:nvSpPr>
          <p:cNvPr id="3" name="Content Placeholder 2">
            <a:extLst>
              <a:ext uri="{FF2B5EF4-FFF2-40B4-BE49-F238E27FC236}">
                <a16:creationId xmlns:a16="http://schemas.microsoft.com/office/drawing/2014/main" id="{AA85337F-268A-BAAF-0139-6DF9D1F30E2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On-Device Operation</a:t>
            </a:r>
          </a:p>
          <a:p>
            <a:pPr marL="0" lvl="1" indent="0">
              <a:buFont typeface="Arial" panose="020B0604020202020204" pitchFamily="34" charset="0"/>
              <a:buNone/>
            </a:pPr>
            <a:r>
              <a:rPr lang="en-US" sz="1400"/>
              <a:t>GURU operates entirely on-device, ensuring data sovereignty and eliminating cloud dependency for maximum security.</a:t>
            </a:r>
          </a:p>
          <a:p>
            <a:pPr marL="0" indent="0">
              <a:spcBef>
                <a:spcPts val="2500"/>
              </a:spcBef>
              <a:buFont typeface="Arial" panose="020B0604020202020204" pitchFamily="34" charset="0"/>
              <a:buNone/>
            </a:pPr>
            <a:r>
              <a:rPr lang="en-US" sz="1400" b="1"/>
              <a:t>Comprehensive Legal Features</a:t>
            </a:r>
          </a:p>
          <a:p>
            <a:pPr marL="0" lvl="1" indent="0">
              <a:buFont typeface="Arial" panose="020B0604020202020204" pitchFamily="34" charset="0"/>
              <a:buNone/>
            </a:pPr>
            <a:r>
              <a:rPr lang="en-US" sz="1400"/>
              <a:t>Includes automated document review, compliance checks, case law research, and risk analysis for legal accuracy.</a:t>
            </a:r>
          </a:p>
          <a:p>
            <a:pPr marL="0" indent="0">
              <a:spcBef>
                <a:spcPts val="2500"/>
              </a:spcBef>
              <a:buFont typeface="Arial" panose="020B0604020202020204" pitchFamily="34" charset="0"/>
              <a:buNone/>
            </a:pPr>
            <a:r>
              <a:rPr lang="en-US" sz="1400" b="1"/>
              <a:t>Privacy and Confidentiality</a:t>
            </a:r>
          </a:p>
          <a:p>
            <a:pPr marL="0" lvl="1" indent="0">
              <a:buFont typeface="Arial" panose="020B0604020202020204" pitchFamily="34" charset="0"/>
              <a:buNone/>
            </a:pPr>
            <a:r>
              <a:rPr lang="en-US" sz="1400"/>
              <a:t>Client data never leaves the firm's premises, addressing confidentiality and regulatory compliance concerns.</a:t>
            </a:r>
          </a:p>
          <a:p>
            <a:pPr marL="0" indent="0">
              <a:spcBef>
                <a:spcPts val="2500"/>
              </a:spcBef>
              <a:buFont typeface="Arial" panose="020B0604020202020204" pitchFamily="34" charset="0"/>
              <a:buNone/>
            </a:pPr>
            <a:r>
              <a:rPr lang="en-US" sz="1400" b="1"/>
              <a:t>Offline Functionality</a:t>
            </a:r>
          </a:p>
          <a:p>
            <a:pPr marL="0" lvl="1" indent="0">
              <a:buFont typeface="Arial" panose="020B0604020202020204" pitchFamily="34" charset="0"/>
              <a:buNone/>
            </a:pPr>
            <a:r>
              <a:rPr lang="en-US" sz="1400"/>
              <a:t>GURU functions uninterrupted in low or no connectivity environments, ensuring continuous legal support.</a:t>
            </a:r>
          </a:p>
        </p:txBody>
      </p:sp>
      <p:sp>
        <p:nvSpPr>
          <p:cNvPr id="5" name="Date Placeholder 4">
            <a:extLst>
              <a:ext uri="{FF2B5EF4-FFF2-40B4-BE49-F238E27FC236}">
                <a16:creationId xmlns:a16="http://schemas.microsoft.com/office/drawing/2014/main" id="{9CCB78A8-B9D9-CA13-29AD-F8CF3A5EF3AC}"/>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8CBB0288-EB23-292A-41A4-E1805833644F}"/>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8</a:t>
            </a:fld>
            <a:endParaRPr lang="en-US"/>
          </a:p>
        </p:txBody>
      </p:sp>
    </p:spTree>
    <p:extLst>
      <p:ext uri="{BB962C8B-B14F-4D97-AF65-F5344CB8AC3E}">
        <p14:creationId xmlns:p14="http://schemas.microsoft.com/office/powerpoint/2010/main" val="28760129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23DA-4844-C40F-EFE6-50AF68B5CF32}"/>
              </a:ext>
            </a:extLst>
          </p:cNvPr>
          <p:cNvSpPr>
            <a:spLocks noGrp="1"/>
          </p:cNvSpPr>
          <p:nvPr>
            <p:ph type="title"/>
          </p:nvPr>
        </p:nvSpPr>
        <p:spPr>
          <a:xfrm>
            <a:off x="393192" y="1249959"/>
            <a:ext cx="4085912" cy="5125673"/>
          </a:xfrm>
        </p:spPr>
        <p:txBody>
          <a:bodyPr anchor="t">
            <a:normAutofit/>
          </a:bodyPr>
          <a:lstStyle/>
          <a:p>
            <a:r>
              <a:rPr lang="en-US"/>
              <a:t>Unique Value Proposition</a:t>
            </a:r>
          </a:p>
        </p:txBody>
      </p:sp>
      <p:sp>
        <p:nvSpPr>
          <p:cNvPr id="3" name="Content Placeholder 2">
            <a:extLst>
              <a:ext uri="{FF2B5EF4-FFF2-40B4-BE49-F238E27FC236}">
                <a16:creationId xmlns:a16="http://schemas.microsoft.com/office/drawing/2014/main" id="{28D3E4B2-A6E6-C379-9C9A-577F2865ABF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Privacy-by-Design Architecture</a:t>
            </a:r>
          </a:p>
          <a:p>
            <a:pPr marL="0" lvl="1" indent="0">
              <a:buFont typeface="Arial" panose="020B0604020202020204" pitchFamily="34" charset="0"/>
              <a:buNone/>
            </a:pPr>
            <a:r>
              <a:rPr lang="en-US" sz="1400"/>
              <a:t>AetherInc prioritizes privacy from inception, providing enhanced security compared to cloud-dependent competitors.</a:t>
            </a:r>
          </a:p>
          <a:p>
            <a:pPr marL="0" indent="0">
              <a:spcBef>
                <a:spcPts val="2500"/>
              </a:spcBef>
              <a:buFont typeface="Arial" panose="020B0604020202020204" pitchFamily="34" charset="0"/>
              <a:buNone/>
            </a:pPr>
            <a:r>
              <a:rPr lang="en-US" sz="1400" b="1"/>
              <a:t>Predictable Cost Structure</a:t>
            </a:r>
          </a:p>
          <a:p>
            <a:pPr marL="0" lvl="1" indent="0">
              <a:buFont typeface="Arial" panose="020B0604020202020204" pitchFamily="34" charset="0"/>
              <a:buNone/>
            </a:pPr>
            <a:r>
              <a:rPr lang="en-US" sz="1400"/>
              <a:t>Non-scaling costs allow firms to budget confidently without concerns of escalating fees.</a:t>
            </a:r>
          </a:p>
          <a:p>
            <a:pPr marL="0" indent="0">
              <a:spcBef>
                <a:spcPts val="2500"/>
              </a:spcBef>
              <a:buFont typeface="Arial" panose="020B0604020202020204" pitchFamily="34" charset="0"/>
              <a:buNone/>
            </a:pPr>
            <a:r>
              <a:rPr lang="en-US" sz="1400" b="1"/>
              <a:t>Enterprise-Grade Security</a:t>
            </a:r>
          </a:p>
          <a:p>
            <a:pPr marL="0" lvl="1" indent="0">
              <a:buFont typeface="Arial" panose="020B0604020202020204" pitchFamily="34" charset="0"/>
              <a:buNone/>
            </a:pPr>
            <a:r>
              <a:rPr lang="en-US" sz="1400"/>
              <a:t>Robust security protocols ensure compliance with strict data protection regulations for legal sector use.</a:t>
            </a:r>
          </a:p>
          <a:p>
            <a:pPr marL="0" indent="0">
              <a:spcBef>
                <a:spcPts val="2500"/>
              </a:spcBef>
              <a:buFont typeface="Arial" panose="020B0604020202020204" pitchFamily="34" charset="0"/>
              <a:buNone/>
            </a:pPr>
            <a:r>
              <a:rPr lang="en-US" sz="1400" b="1"/>
              <a:t>Modular Hardware Scalability</a:t>
            </a:r>
          </a:p>
          <a:p>
            <a:pPr marL="0" lvl="1" indent="0">
              <a:buFont typeface="Arial" panose="020B0604020202020204" pitchFamily="34" charset="0"/>
              <a:buNone/>
            </a:pPr>
            <a:r>
              <a:rPr lang="en-US" sz="1400"/>
              <a:t>Flexible hardware options support scalable deployments tailored to client needs.</a:t>
            </a:r>
          </a:p>
        </p:txBody>
      </p:sp>
      <p:sp>
        <p:nvSpPr>
          <p:cNvPr id="5" name="Date Placeholder 4">
            <a:extLst>
              <a:ext uri="{FF2B5EF4-FFF2-40B4-BE49-F238E27FC236}">
                <a16:creationId xmlns:a16="http://schemas.microsoft.com/office/drawing/2014/main" id="{16960197-2D07-5DE1-F0E3-86111D1FEEFF}"/>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427F4156-4C67-5ACA-480B-FC99BA526EF3}"/>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9</a:t>
            </a:fld>
            <a:endParaRPr lang="en-US"/>
          </a:p>
        </p:txBody>
      </p:sp>
    </p:spTree>
    <p:extLst>
      <p:ext uri="{BB962C8B-B14F-4D97-AF65-F5344CB8AC3E}">
        <p14:creationId xmlns:p14="http://schemas.microsoft.com/office/powerpoint/2010/main" val="41915500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9F5F7-24F6-AC1F-7F12-11ECA61C534B}"/>
              </a:ext>
            </a:extLst>
          </p:cNvPr>
          <p:cNvSpPr>
            <a:spLocks noGrp="1"/>
          </p:cNvSpPr>
          <p:nvPr>
            <p:ph type="title"/>
          </p:nvPr>
        </p:nvSpPr>
        <p:spPr>
          <a:xfrm>
            <a:off x="64008" y="1435608"/>
            <a:ext cx="11594592" cy="5559552"/>
          </a:xfrm>
        </p:spPr>
        <p:txBody>
          <a:bodyPr anchor="b">
            <a:normAutofit/>
          </a:bodyPr>
          <a:lstStyle/>
          <a:p>
            <a:r>
              <a:rPr lang="en-US"/>
              <a:t>Business Model and Competitive Landscape</a:t>
            </a:r>
          </a:p>
        </p:txBody>
      </p:sp>
      <p:sp>
        <p:nvSpPr>
          <p:cNvPr id="6" name="Date Placeholder 5">
            <a:extLst>
              <a:ext uri="{FF2B5EF4-FFF2-40B4-BE49-F238E27FC236}">
                <a16:creationId xmlns:a16="http://schemas.microsoft.com/office/drawing/2014/main" id="{8D335E83-FA02-F18B-4689-96E8199FD834}"/>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11/24/2025</a:t>
            </a:fld>
            <a:endParaRPr lang="en-US"/>
          </a:p>
        </p:txBody>
      </p:sp>
      <p:sp>
        <p:nvSpPr>
          <p:cNvPr id="7" name="Slide Number Placeholder 6">
            <a:extLst>
              <a:ext uri="{FF2B5EF4-FFF2-40B4-BE49-F238E27FC236}">
                <a16:creationId xmlns:a16="http://schemas.microsoft.com/office/drawing/2014/main" id="{7C00BC1F-5F30-348B-7224-4707511F2A2E}"/>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10</a:t>
            </a:fld>
            <a:endParaRPr lang="en-US"/>
          </a:p>
        </p:txBody>
      </p:sp>
    </p:spTree>
    <p:extLst>
      <p:ext uri="{BB962C8B-B14F-4D97-AF65-F5344CB8AC3E}">
        <p14:creationId xmlns:p14="http://schemas.microsoft.com/office/powerpoint/2010/main" val="694904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139F5-44AE-40A1-A60C-C1151ACD6155}"/>
              </a:ext>
            </a:extLst>
          </p:cNvPr>
          <p:cNvSpPr>
            <a:spLocks noGrp="1"/>
          </p:cNvSpPr>
          <p:nvPr>
            <p:ph type="title"/>
          </p:nvPr>
        </p:nvSpPr>
        <p:spPr>
          <a:xfrm>
            <a:off x="393192" y="1249959"/>
            <a:ext cx="4085912" cy="5125673"/>
          </a:xfrm>
        </p:spPr>
        <p:txBody>
          <a:bodyPr anchor="t">
            <a:normAutofit/>
          </a:bodyPr>
          <a:lstStyle/>
          <a:p>
            <a:r>
              <a:rPr lang="en-US"/>
              <a:t>Revenue Streams</a:t>
            </a:r>
          </a:p>
        </p:txBody>
      </p:sp>
      <p:sp>
        <p:nvSpPr>
          <p:cNvPr id="3" name="Content Placeholder 2">
            <a:extLst>
              <a:ext uri="{FF2B5EF4-FFF2-40B4-BE49-F238E27FC236}">
                <a16:creationId xmlns:a16="http://schemas.microsoft.com/office/drawing/2014/main" id="{64F698E1-B10D-1669-0909-74AE1149AD9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Sustainable Revenue Model</a:t>
            </a:r>
          </a:p>
          <a:p>
            <a:pPr marL="0" lvl="1" indent="0">
              <a:buFont typeface="Arial" panose="020B0604020202020204" pitchFamily="34" charset="0"/>
              <a:buNone/>
            </a:pPr>
            <a:r>
              <a:rPr lang="en-US" sz="1400"/>
              <a:t>The model focuses on sustainability and transparency to provide predictable and reliable income.</a:t>
            </a:r>
          </a:p>
          <a:p>
            <a:pPr marL="0" indent="0">
              <a:spcBef>
                <a:spcPts val="2500"/>
              </a:spcBef>
              <a:buFont typeface="Arial" panose="020B0604020202020204" pitchFamily="34" charset="0"/>
              <a:buNone/>
            </a:pPr>
            <a:r>
              <a:rPr lang="en-US" sz="1400" b="1"/>
              <a:t>Perpetual Software Licenses</a:t>
            </a:r>
          </a:p>
          <a:p>
            <a:pPr marL="0" lvl="1" indent="0">
              <a:buFont typeface="Arial" panose="020B0604020202020204" pitchFamily="34" charset="0"/>
              <a:buNone/>
            </a:pPr>
            <a:r>
              <a:rPr lang="en-US" sz="1400"/>
              <a:t>Offering perpetual licenses provides long-term value and avoids recurring variable costs.</a:t>
            </a:r>
          </a:p>
          <a:p>
            <a:pPr marL="0" indent="0">
              <a:spcBef>
                <a:spcPts val="2500"/>
              </a:spcBef>
              <a:buFont typeface="Arial" panose="020B0604020202020204" pitchFamily="34" charset="0"/>
              <a:buNone/>
            </a:pPr>
            <a:r>
              <a:rPr lang="en-US" sz="1400" b="1"/>
              <a:t>Hardware Leasing and Services</a:t>
            </a:r>
          </a:p>
          <a:p>
            <a:pPr marL="0" lvl="1" indent="0">
              <a:buFont typeface="Arial" panose="020B0604020202020204" pitchFamily="34" charset="0"/>
              <a:buNone/>
            </a:pPr>
            <a:r>
              <a:rPr lang="en-US" sz="1400"/>
              <a:t>Hardware leases and optional consultancy offer modular, customizable AI solutions for clients.</a:t>
            </a:r>
          </a:p>
          <a:p>
            <a:pPr marL="0" indent="0">
              <a:spcBef>
                <a:spcPts val="2500"/>
              </a:spcBef>
              <a:buFont typeface="Arial" panose="020B0604020202020204" pitchFamily="34" charset="0"/>
              <a:buNone/>
            </a:pPr>
            <a:r>
              <a:rPr lang="en-US" sz="1400" b="1"/>
              <a:t>Flexible Client Options</a:t>
            </a:r>
          </a:p>
          <a:p>
            <a:pPr marL="0" lvl="1" indent="0">
              <a:buFont typeface="Arial" panose="020B0604020202020204" pitchFamily="34" charset="0"/>
              <a:buNone/>
            </a:pPr>
            <a:r>
              <a:rPr lang="en-US" sz="1400"/>
              <a:t>Flexible options tailored for different firm sizes ensure cost-effective and secure AI adoption.</a:t>
            </a:r>
          </a:p>
        </p:txBody>
      </p:sp>
      <p:sp>
        <p:nvSpPr>
          <p:cNvPr id="5" name="Date Placeholder 4">
            <a:extLst>
              <a:ext uri="{FF2B5EF4-FFF2-40B4-BE49-F238E27FC236}">
                <a16:creationId xmlns:a16="http://schemas.microsoft.com/office/drawing/2014/main" id="{248D390A-51FF-F8E6-0C1B-50F2BD5BBA58}"/>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97F7E038-C5C9-A790-AA6C-41061B529515}"/>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11</a:t>
            </a:fld>
            <a:endParaRPr lang="en-US"/>
          </a:p>
        </p:txBody>
      </p:sp>
    </p:spTree>
    <p:extLst>
      <p:ext uri="{BB962C8B-B14F-4D97-AF65-F5344CB8AC3E}">
        <p14:creationId xmlns:p14="http://schemas.microsoft.com/office/powerpoint/2010/main" val="9248424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98014-478F-5442-5FE7-4A6B0EF0BFE7}"/>
              </a:ext>
            </a:extLst>
          </p:cNvPr>
          <p:cNvSpPr>
            <a:spLocks noGrp="1"/>
          </p:cNvSpPr>
          <p:nvPr>
            <p:ph type="title"/>
          </p:nvPr>
        </p:nvSpPr>
        <p:spPr>
          <a:xfrm>
            <a:off x="393192" y="1249959"/>
            <a:ext cx="4085912" cy="5125673"/>
          </a:xfrm>
        </p:spPr>
        <p:txBody>
          <a:bodyPr anchor="t">
            <a:normAutofit/>
          </a:bodyPr>
          <a:lstStyle/>
          <a:p>
            <a:r>
              <a:rPr lang="en-US"/>
              <a:t>Competitive Advantage</a:t>
            </a:r>
          </a:p>
        </p:txBody>
      </p:sp>
      <p:sp>
        <p:nvSpPr>
          <p:cNvPr id="3" name="Content Placeholder 2">
            <a:extLst>
              <a:ext uri="{FF2B5EF4-FFF2-40B4-BE49-F238E27FC236}">
                <a16:creationId xmlns:a16="http://schemas.microsoft.com/office/drawing/2014/main" id="{838A2741-2C91-B223-42D0-0357BD8978A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Cloud-Based AI Challenges</a:t>
            </a:r>
          </a:p>
          <a:p>
            <a:pPr marL="0" lvl="1" indent="0">
              <a:buFont typeface="Arial" panose="020B0604020202020204" pitchFamily="34" charset="0"/>
              <a:buNone/>
            </a:pPr>
            <a:r>
              <a:rPr lang="en-US" sz="1400"/>
              <a:t>LegalTech cloud AI providers pose security risks and unpredictable costs for firms relying on their services.</a:t>
            </a:r>
          </a:p>
          <a:p>
            <a:pPr marL="0" indent="0">
              <a:spcBef>
                <a:spcPts val="2500"/>
              </a:spcBef>
              <a:buFont typeface="Arial" panose="020B0604020202020204" pitchFamily="34" charset="0"/>
              <a:buNone/>
            </a:pPr>
            <a:r>
              <a:rPr lang="en-US" sz="1400" b="1"/>
              <a:t>On-Device Processing Advantage</a:t>
            </a:r>
          </a:p>
          <a:p>
            <a:pPr marL="0" lvl="1" indent="0">
              <a:buFont typeface="Arial" panose="020B0604020202020204" pitchFamily="34" charset="0"/>
              <a:buNone/>
            </a:pPr>
            <a:r>
              <a:rPr lang="en-US" sz="1400"/>
              <a:t>GURU uses on-device AI processing that enhances privacy and supports offline functionality for better control.</a:t>
            </a:r>
          </a:p>
          <a:p>
            <a:pPr marL="0" indent="0">
              <a:spcBef>
                <a:spcPts val="2500"/>
              </a:spcBef>
              <a:buFont typeface="Arial" panose="020B0604020202020204" pitchFamily="34" charset="0"/>
              <a:buNone/>
            </a:pPr>
            <a:r>
              <a:rPr lang="en-US" sz="1400" b="1"/>
              <a:t>Privacy-by-Design Architecture</a:t>
            </a:r>
          </a:p>
          <a:p>
            <a:pPr marL="0" lvl="1" indent="0">
              <a:buFont typeface="Arial" panose="020B0604020202020204" pitchFamily="34" charset="0"/>
              <a:buNone/>
            </a:pPr>
            <a:r>
              <a:rPr lang="en-US" sz="1400"/>
              <a:t>The product’s privacy-by-design framework ensures compliance and protects user data throughout operations.</a:t>
            </a:r>
          </a:p>
          <a:p>
            <a:pPr marL="0" indent="0">
              <a:spcBef>
                <a:spcPts val="2500"/>
              </a:spcBef>
              <a:buFont typeface="Arial" panose="020B0604020202020204" pitchFamily="34" charset="0"/>
              <a:buNone/>
            </a:pPr>
            <a:r>
              <a:rPr lang="en-US" sz="1400" b="1"/>
              <a:t>Transparent Pricing &amp; Security</a:t>
            </a:r>
          </a:p>
          <a:p>
            <a:pPr marL="0" lvl="1" indent="0">
              <a:buFont typeface="Arial" panose="020B0604020202020204" pitchFamily="34" charset="0"/>
              <a:buNone/>
            </a:pPr>
            <a:r>
              <a:rPr lang="en-US" sz="1400"/>
              <a:t>Transparent pricing combined with enterprise-grade security fosters trust and strengthens market position.</a:t>
            </a:r>
          </a:p>
        </p:txBody>
      </p:sp>
      <p:sp>
        <p:nvSpPr>
          <p:cNvPr id="5" name="Date Placeholder 4">
            <a:extLst>
              <a:ext uri="{FF2B5EF4-FFF2-40B4-BE49-F238E27FC236}">
                <a16:creationId xmlns:a16="http://schemas.microsoft.com/office/drawing/2014/main" id="{582A1C2F-6553-AC90-0225-1FE23839A277}"/>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DC416798-4ACB-6116-A11F-A5F4D49B7FA1}"/>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12</a:t>
            </a:fld>
            <a:endParaRPr lang="en-US"/>
          </a:p>
        </p:txBody>
      </p:sp>
    </p:spTree>
    <p:extLst>
      <p:ext uri="{BB962C8B-B14F-4D97-AF65-F5344CB8AC3E}">
        <p14:creationId xmlns:p14="http://schemas.microsoft.com/office/powerpoint/2010/main" val="3573984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BC86-4E76-31BD-B85A-5C8EBC1360F4}"/>
              </a:ext>
            </a:extLst>
          </p:cNvPr>
          <p:cNvSpPr>
            <a:spLocks noGrp="1"/>
          </p:cNvSpPr>
          <p:nvPr>
            <p:ph type="title"/>
          </p:nvPr>
        </p:nvSpPr>
        <p:spPr>
          <a:xfrm>
            <a:off x="64008" y="1435608"/>
            <a:ext cx="11594592" cy="5559552"/>
          </a:xfrm>
        </p:spPr>
        <p:txBody>
          <a:bodyPr anchor="b">
            <a:normAutofit/>
          </a:bodyPr>
          <a:lstStyle/>
          <a:p>
            <a:r>
              <a:rPr lang="en-US"/>
              <a:t>Funding and Roadmap</a:t>
            </a:r>
          </a:p>
        </p:txBody>
      </p:sp>
      <p:sp>
        <p:nvSpPr>
          <p:cNvPr id="6" name="Date Placeholder 5">
            <a:extLst>
              <a:ext uri="{FF2B5EF4-FFF2-40B4-BE49-F238E27FC236}">
                <a16:creationId xmlns:a16="http://schemas.microsoft.com/office/drawing/2014/main" id="{B8A4CC5D-C1B4-E07C-15BB-FFC98E077A60}"/>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11/24/2025</a:t>
            </a:fld>
            <a:endParaRPr lang="en-US"/>
          </a:p>
        </p:txBody>
      </p:sp>
      <p:sp>
        <p:nvSpPr>
          <p:cNvPr id="7" name="Slide Number Placeholder 6">
            <a:extLst>
              <a:ext uri="{FF2B5EF4-FFF2-40B4-BE49-F238E27FC236}">
                <a16:creationId xmlns:a16="http://schemas.microsoft.com/office/drawing/2014/main" id="{13F918C2-57B3-56DD-99E3-A9154B085956}"/>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13</a:t>
            </a:fld>
            <a:endParaRPr lang="en-US"/>
          </a:p>
        </p:txBody>
      </p:sp>
    </p:spTree>
    <p:extLst>
      <p:ext uri="{BB962C8B-B14F-4D97-AF65-F5344CB8AC3E}">
        <p14:creationId xmlns:p14="http://schemas.microsoft.com/office/powerpoint/2010/main" val="3127990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D88A-C46A-F2D0-B925-78ABD7F154F2}"/>
              </a:ext>
            </a:extLst>
          </p:cNvPr>
          <p:cNvSpPr>
            <a:spLocks noGrp="1"/>
          </p:cNvSpPr>
          <p:nvPr>
            <p:ph type="title"/>
          </p:nvPr>
        </p:nvSpPr>
        <p:spPr>
          <a:xfrm>
            <a:off x="393192" y="1249959"/>
            <a:ext cx="4085912" cy="5125673"/>
          </a:xfrm>
        </p:spPr>
        <p:txBody>
          <a:bodyPr anchor="t">
            <a:normAutofit/>
          </a:bodyPr>
          <a:lstStyle/>
          <a:p>
            <a:r>
              <a:rPr lang="en-US"/>
              <a:t>Funding Requirements</a:t>
            </a:r>
          </a:p>
        </p:txBody>
      </p:sp>
      <p:sp>
        <p:nvSpPr>
          <p:cNvPr id="3" name="Content Placeholder 2">
            <a:extLst>
              <a:ext uri="{FF2B5EF4-FFF2-40B4-BE49-F238E27FC236}">
                <a16:creationId xmlns:a16="http://schemas.microsoft.com/office/drawing/2014/main" id="{35D3378B-E78E-3758-A2C0-8438F63A2F7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Funding Goal</a:t>
            </a:r>
          </a:p>
          <a:p>
            <a:pPr marL="0" lvl="1" indent="0">
              <a:buFont typeface="Arial" panose="020B0604020202020204" pitchFamily="34" charset="0"/>
              <a:buNone/>
            </a:pPr>
            <a:r>
              <a:rPr lang="en-US" sz="1400"/>
              <a:t>Seeking £500,000 in pre-seed funding to accelerate company growth and development.</a:t>
            </a:r>
          </a:p>
          <a:p>
            <a:pPr marL="0" indent="0">
              <a:spcBef>
                <a:spcPts val="2500"/>
              </a:spcBef>
              <a:buFont typeface="Arial" panose="020B0604020202020204" pitchFamily="34" charset="0"/>
              <a:buNone/>
            </a:pPr>
            <a:r>
              <a:rPr lang="en-US" sz="1400" b="1"/>
              <a:t>Allocation of Funds</a:t>
            </a:r>
          </a:p>
          <a:p>
            <a:pPr marL="0" lvl="1" indent="0">
              <a:buFont typeface="Arial" panose="020B0604020202020204" pitchFamily="34" charset="0"/>
              <a:buNone/>
            </a:pPr>
            <a:r>
              <a:rPr lang="en-US" sz="1400"/>
              <a:t>Funds will expand the development team, enhance product features, and support pilot programs.</a:t>
            </a:r>
          </a:p>
          <a:p>
            <a:pPr marL="0" indent="0">
              <a:spcBef>
                <a:spcPts val="2500"/>
              </a:spcBef>
              <a:buFont typeface="Arial" panose="020B0604020202020204" pitchFamily="34" charset="0"/>
              <a:buNone/>
            </a:pPr>
            <a:r>
              <a:rPr lang="en-US" sz="1400" b="1"/>
              <a:t>Strategic Objectives</a:t>
            </a:r>
          </a:p>
          <a:p>
            <a:pPr marL="0" lvl="1" indent="0">
              <a:buFont typeface="Arial" panose="020B0604020202020204" pitchFamily="34" charset="0"/>
              <a:buNone/>
            </a:pPr>
            <a:r>
              <a:rPr lang="en-US" sz="1400"/>
              <a:t>Investment to validate solutions, gather feedback, and refine offerings for market adoption.</a:t>
            </a:r>
          </a:p>
          <a:p>
            <a:pPr marL="0" indent="0">
              <a:spcBef>
                <a:spcPts val="2500"/>
              </a:spcBef>
              <a:buFont typeface="Arial" panose="020B0604020202020204" pitchFamily="34" charset="0"/>
              <a:buNone/>
            </a:pPr>
            <a:r>
              <a:rPr lang="en-US" sz="1400" b="1"/>
              <a:t>Market Positioning</a:t>
            </a:r>
          </a:p>
          <a:p>
            <a:pPr marL="0" lvl="1" indent="0">
              <a:buFont typeface="Arial" panose="020B0604020202020204" pitchFamily="34" charset="0"/>
              <a:buNone/>
            </a:pPr>
            <a:r>
              <a:rPr lang="en-US" sz="1400"/>
              <a:t>Funding will position AetherInc as a leader in privacy-first LegalTech solutions.</a:t>
            </a:r>
          </a:p>
        </p:txBody>
      </p:sp>
      <p:sp>
        <p:nvSpPr>
          <p:cNvPr id="5" name="Date Placeholder 4">
            <a:extLst>
              <a:ext uri="{FF2B5EF4-FFF2-40B4-BE49-F238E27FC236}">
                <a16:creationId xmlns:a16="http://schemas.microsoft.com/office/drawing/2014/main" id="{120CD9B9-CB8B-8C36-F23E-A5DEB653013D}"/>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4745D91D-5891-A959-97A3-800C6F016A23}"/>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14</a:t>
            </a:fld>
            <a:endParaRPr lang="en-US"/>
          </a:p>
        </p:txBody>
      </p:sp>
    </p:spTree>
    <p:extLst>
      <p:ext uri="{BB962C8B-B14F-4D97-AF65-F5344CB8AC3E}">
        <p14:creationId xmlns:p14="http://schemas.microsoft.com/office/powerpoint/2010/main" val="40345941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224C2-5A23-14E0-7F1B-F53E28B74BBC}"/>
              </a:ext>
            </a:extLst>
          </p:cNvPr>
          <p:cNvSpPr>
            <a:spLocks noGrp="1"/>
          </p:cNvSpPr>
          <p:nvPr>
            <p:ph type="title"/>
          </p:nvPr>
        </p:nvSpPr>
        <p:spPr>
          <a:xfrm>
            <a:off x="393192" y="1249959"/>
            <a:ext cx="4085912" cy="5125673"/>
          </a:xfrm>
        </p:spPr>
        <p:txBody>
          <a:bodyPr anchor="t">
            <a:normAutofit/>
          </a:bodyPr>
          <a:lstStyle/>
          <a:p>
            <a:r>
              <a:rPr lang="en-US"/>
              <a:t>Roadmap and Milestones</a:t>
            </a:r>
          </a:p>
        </p:txBody>
      </p:sp>
      <p:sp>
        <p:nvSpPr>
          <p:cNvPr id="3" name="Content Placeholder 2">
            <a:extLst>
              <a:ext uri="{FF2B5EF4-FFF2-40B4-BE49-F238E27FC236}">
                <a16:creationId xmlns:a16="http://schemas.microsoft.com/office/drawing/2014/main" id="{65C8F62C-E823-9890-9D8A-35E0FC2F05C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58384" y="1249959"/>
            <a:ext cx="6440424" cy="5238764"/>
          </a:xfrm>
        </p:spPr>
        <p:txBody>
          <a:bodyPr>
            <a:normAutofit/>
          </a:bodyPr>
          <a:lstStyle/>
          <a:p>
            <a:pPr marL="0" indent="0">
              <a:spcBef>
                <a:spcPts val="2500"/>
              </a:spcBef>
              <a:buFont typeface="Arial" panose="020B0604020202020204" pitchFamily="34" charset="0"/>
              <a:buNone/>
            </a:pPr>
            <a:r>
              <a:rPr lang="en-US" sz="1400" b="1"/>
              <a:t>Team Expansion and Product Development</a:t>
            </a:r>
          </a:p>
          <a:p>
            <a:pPr marL="0" lvl="1" indent="0">
              <a:buFont typeface="Arial" panose="020B0604020202020204" pitchFamily="34" charset="0"/>
              <a:buNone/>
            </a:pPr>
            <a:r>
              <a:rPr lang="en-US" sz="1400"/>
              <a:t>The first quarter focuses on growing the team and completing the product development to build a strong foundation.</a:t>
            </a:r>
          </a:p>
          <a:p>
            <a:pPr marL="0" indent="0">
              <a:spcBef>
                <a:spcPts val="2500"/>
              </a:spcBef>
              <a:buFont typeface="Arial" panose="020B0604020202020204" pitchFamily="34" charset="0"/>
              <a:buNone/>
            </a:pPr>
            <a:r>
              <a:rPr lang="en-US" sz="1400" b="1"/>
              <a:t>Pilot Deployments</a:t>
            </a:r>
          </a:p>
          <a:p>
            <a:pPr marL="0" lvl="1" indent="0">
              <a:buFont typeface="Arial" panose="020B0604020202020204" pitchFamily="34" charset="0"/>
              <a:buNone/>
            </a:pPr>
            <a:r>
              <a:rPr lang="en-US" sz="1400"/>
              <a:t>Second quarter involves pilot deployments with partner law firms to gather real-world feedback and validate the product.</a:t>
            </a:r>
          </a:p>
          <a:p>
            <a:pPr marL="0" indent="0">
              <a:spcBef>
                <a:spcPts val="2500"/>
              </a:spcBef>
              <a:buFont typeface="Arial" panose="020B0604020202020204" pitchFamily="34" charset="0"/>
              <a:buNone/>
            </a:pPr>
            <a:r>
              <a:rPr lang="en-US" sz="1400" b="1"/>
              <a:t>Product Refinement</a:t>
            </a:r>
          </a:p>
          <a:p>
            <a:pPr marL="0" lvl="1" indent="0">
              <a:buFont typeface="Arial" panose="020B0604020202020204" pitchFamily="34" charset="0"/>
              <a:buNone/>
            </a:pPr>
            <a:r>
              <a:rPr lang="en-US" sz="1400"/>
              <a:t>Third quarter focuses on refining the product based on user feedback to improve usability and performance.</a:t>
            </a:r>
          </a:p>
          <a:p>
            <a:pPr marL="0" indent="0">
              <a:spcBef>
                <a:spcPts val="2500"/>
              </a:spcBef>
              <a:buFont typeface="Arial" panose="020B0604020202020204" pitchFamily="34" charset="0"/>
              <a:buNone/>
            </a:pPr>
            <a:r>
              <a:rPr lang="en-US" sz="1400" b="1"/>
              <a:t>Market Launch and Partnerships</a:t>
            </a:r>
          </a:p>
          <a:p>
            <a:pPr marL="0" lvl="1" indent="0">
              <a:buFont typeface="Arial" panose="020B0604020202020204" pitchFamily="34" charset="0"/>
              <a:buNone/>
            </a:pPr>
            <a:r>
              <a:rPr lang="en-US" sz="1400"/>
              <a:t>Fourth quarter emphasizes launching the solution broadly with strategic partnerships and targeted marketing campaigns.</a:t>
            </a:r>
          </a:p>
        </p:txBody>
      </p:sp>
      <p:sp>
        <p:nvSpPr>
          <p:cNvPr id="5" name="Date Placeholder 4">
            <a:extLst>
              <a:ext uri="{FF2B5EF4-FFF2-40B4-BE49-F238E27FC236}">
                <a16:creationId xmlns:a16="http://schemas.microsoft.com/office/drawing/2014/main" id="{D4A044F9-9C0F-68A2-95D6-402F9F70581C}"/>
              </a:ext>
            </a:extLst>
          </p:cNvPr>
          <p:cNvSpPr>
            <a:spLocks noGrp="1"/>
          </p:cNvSpPr>
          <p:nvPr>
            <p:ph type="dt" sz="half" idx="10"/>
          </p:nvPr>
        </p:nvSpPr>
        <p:spPr>
          <a:xfrm>
            <a:off x="5363852"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10B7322B-2340-B0F3-956D-B01CE80B49B7}"/>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15</a:t>
            </a:fld>
            <a:endParaRPr lang="en-US"/>
          </a:p>
        </p:txBody>
      </p:sp>
    </p:spTree>
    <p:extLst>
      <p:ext uri="{BB962C8B-B14F-4D97-AF65-F5344CB8AC3E}">
        <p14:creationId xmlns:p14="http://schemas.microsoft.com/office/powerpoint/2010/main" val="24427273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884B5-7FA4-B61F-164E-813EEBCC4099}"/>
              </a:ext>
            </a:extLst>
          </p:cNvPr>
          <p:cNvSpPr>
            <a:spLocks noGrp="1"/>
          </p:cNvSpPr>
          <p:nvPr>
            <p:ph type="title"/>
          </p:nvPr>
        </p:nvSpPr>
        <p:spPr>
          <a:xfrm>
            <a:off x="64008" y="1435608"/>
            <a:ext cx="11594592" cy="5559552"/>
          </a:xfrm>
        </p:spPr>
        <p:txBody>
          <a:bodyPr anchor="b">
            <a:normAutofit/>
          </a:bodyPr>
          <a:lstStyle/>
          <a:p>
            <a:r>
              <a:rPr lang="en-US"/>
              <a:t>Conclusion</a:t>
            </a:r>
          </a:p>
        </p:txBody>
      </p:sp>
      <p:sp>
        <p:nvSpPr>
          <p:cNvPr id="6" name="Date Placeholder 5">
            <a:extLst>
              <a:ext uri="{FF2B5EF4-FFF2-40B4-BE49-F238E27FC236}">
                <a16:creationId xmlns:a16="http://schemas.microsoft.com/office/drawing/2014/main" id="{6576C1E7-B3F2-93FE-0FD7-D00BC4CC924A}"/>
              </a:ext>
            </a:extLst>
          </p:cNvPr>
          <p:cNvSpPr>
            <a:spLocks noGrp="1"/>
          </p:cNvSpPr>
          <p:nvPr>
            <p:ph type="dt" sz="half" idx="10"/>
          </p:nvPr>
        </p:nvSpPr>
        <p:spPr>
          <a:xfrm>
            <a:off x="7680069" y="207982"/>
            <a:ext cx="1921315" cy="413360"/>
          </a:xfrm>
        </p:spPr>
        <p:txBody>
          <a:bodyPr anchor="ctr">
            <a:normAutofit/>
          </a:bodyPr>
          <a:lstStyle/>
          <a:p>
            <a:pPr>
              <a:spcAft>
                <a:spcPts val="600"/>
              </a:spcAft>
            </a:pPr>
            <a:fld id="{BBB8170F-0370-4A38-8BF3-83D69476AE62}" type="datetime1">
              <a:rPr lang="en-US" smtClean="0"/>
              <a:pPr>
                <a:spcAft>
                  <a:spcPts val="600"/>
                </a:spcAft>
              </a:pPr>
              <a:t>11/24/2025</a:t>
            </a:fld>
            <a:endParaRPr lang="en-US"/>
          </a:p>
        </p:txBody>
      </p:sp>
      <p:sp>
        <p:nvSpPr>
          <p:cNvPr id="7" name="Slide Number Placeholder 6">
            <a:extLst>
              <a:ext uri="{FF2B5EF4-FFF2-40B4-BE49-F238E27FC236}">
                <a16:creationId xmlns:a16="http://schemas.microsoft.com/office/drawing/2014/main" id="{56A43DAA-9F92-7C1F-56E1-A8486032917B}"/>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16</a:t>
            </a:fld>
            <a:endParaRPr lang="en-US"/>
          </a:p>
        </p:txBody>
      </p:sp>
    </p:spTree>
    <p:extLst>
      <p:ext uri="{BB962C8B-B14F-4D97-AF65-F5344CB8AC3E}">
        <p14:creationId xmlns:p14="http://schemas.microsoft.com/office/powerpoint/2010/main" val="20634327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D7BC0-57B5-3B1D-660F-E67EB6857184}"/>
              </a:ext>
            </a:extLst>
          </p:cNvPr>
          <p:cNvSpPr>
            <a:spLocks noGrp="1"/>
          </p:cNvSpPr>
          <p:nvPr>
            <p:ph type="title"/>
          </p:nvPr>
        </p:nvSpPr>
        <p:spPr>
          <a:xfrm>
            <a:off x="320558" y="1034473"/>
            <a:ext cx="11420337" cy="1582221"/>
          </a:xfrm>
        </p:spPr>
        <p:txBody>
          <a:bodyPr anchor="b">
            <a:normAutofit/>
          </a:bodyPr>
          <a:lstStyle/>
          <a:p>
            <a:r>
              <a:rPr lang="en-US"/>
              <a:t>Call to Action</a:t>
            </a:r>
          </a:p>
        </p:txBody>
      </p:sp>
      <p:graphicFrame>
        <p:nvGraphicFramePr>
          <p:cNvPr id="10" name="Content Placeholder 2">
            <a:extLst>
              <a:ext uri="{FF2B5EF4-FFF2-40B4-BE49-F238E27FC236}">
                <a16:creationId xmlns:a16="http://schemas.microsoft.com/office/drawing/2014/main" id="{96F1977D-3B3D-022F-FB4A-59DA608B494C}"/>
              </a:ext>
            </a:extLst>
          </p:cNvPr>
          <p:cNvGraphicFramePr>
            <a:graphicFrameLocks noGrp="1"/>
          </p:cNvGraphicFramePr>
          <p:nvPr>
            <p:ph idx="1"/>
            <p:extLst>
              <p:ext uri="{D42A27DB-BD31-4B8C-83A1-F6EECF244321}">
                <p14:modId xmlns:p14="http://schemas.microsoft.com/office/powerpoint/2010/main" val="337348369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13236" y="2912326"/>
          <a:ext cx="11420336" cy="37001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Date Placeholder 4">
            <a:extLst>
              <a:ext uri="{FF2B5EF4-FFF2-40B4-BE49-F238E27FC236}">
                <a16:creationId xmlns:a16="http://schemas.microsoft.com/office/drawing/2014/main" id="{110A7DAC-B943-600F-173C-62F205A6E7DD}"/>
              </a:ext>
            </a:extLst>
          </p:cNvPr>
          <p:cNvSpPr>
            <a:spLocks noGrp="1"/>
          </p:cNvSpPr>
          <p:nvPr>
            <p:ph type="dt" sz="half" idx="10"/>
          </p:nvPr>
        </p:nvSpPr>
        <p:spPr>
          <a:xfrm>
            <a:off x="7680069" y="207982"/>
            <a:ext cx="1921315" cy="413360"/>
          </a:xfrm>
        </p:spPr>
        <p:txBody>
          <a:bodyPr anchor="ctr">
            <a:normAutofit/>
          </a:bodyPr>
          <a:lstStyle/>
          <a:p>
            <a:pPr>
              <a:spcAft>
                <a:spcPts val="600"/>
              </a:spcAft>
            </a:pPr>
            <a:fld id="{20D15516-589F-487D-BF51-9635DCEA90D5}" type="datetime1">
              <a:rPr lang="en-US" smtClean="0"/>
              <a:pPr>
                <a:spcAft>
                  <a:spcPts val="600"/>
                </a:spcAft>
              </a:pPr>
              <a:t>11/24/2025</a:t>
            </a:fld>
            <a:endParaRPr lang="en-US"/>
          </a:p>
        </p:txBody>
      </p:sp>
      <p:sp>
        <p:nvSpPr>
          <p:cNvPr id="6" name="Slide Number Placeholder 5">
            <a:extLst>
              <a:ext uri="{FF2B5EF4-FFF2-40B4-BE49-F238E27FC236}">
                <a16:creationId xmlns:a16="http://schemas.microsoft.com/office/drawing/2014/main" id="{C551E5A8-402C-D3AD-565A-F363595DDDB0}"/>
              </a:ext>
            </a:extLst>
          </p:cNvPr>
          <p:cNvSpPr>
            <a:spLocks noGrp="1"/>
          </p:cNvSpPr>
          <p:nvPr>
            <p:ph type="sldNum" sz="quarter" idx="12"/>
          </p:nvPr>
        </p:nvSpPr>
        <p:spPr>
          <a:xfrm>
            <a:off x="11288870" y="207982"/>
            <a:ext cx="546447" cy="413360"/>
          </a:xfrm>
        </p:spPr>
        <p:txBody>
          <a:bodyPr anchor="ctr">
            <a:normAutofit/>
          </a:bodyPr>
          <a:lstStyle/>
          <a:p>
            <a:pPr>
              <a:spcAft>
                <a:spcPts val="600"/>
              </a:spcAft>
            </a:pPr>
            <a:fld id="{753D0FD4-819D-4187-8797-C35567B41C78}" type="slidenum">
              <a:rPr lang="en-US" smtClean="0"/>
              <a:pPr>
                <a:spcAft>
                  <a:spcPts val="600"/>
                </a:spcAft>
              </a:pPr>
              <a:t>17</a:t>
            </a:fld>
            <a:endParaRPr lang="en-US"/>
          </a:p>
        </p:txBody>
      </p:sp>
    </p:spTree>
    <p:extLst>
      <p:ext uri="{BB962C8B-B14F-4D97-AF65-F5344CB8AC3E}">
        <p14:creationId xmlns:p14="http://schemas.microsoft.com/office/powerpoint/2010/main" val="1057706920"/>
      </p:ext>
    </p:extLst>
  </p:cSld>
  <p:clrMapOvr>
    <a:masterClrMapping/>
  </p:clrMapOvr>
  <p:transition>
    <p:fade/>
  </p:transition>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A923440E-1285-45C1-B66B-8630BD70D041}" vid="{F02A544F-3BB0-402C-9DE1-17A1995AA5F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E87D78-9CEC-4EE9-94B9-0F2EEEB8A065}">
  <ds:schemaRefs>
    <ds:schemaRef ds:uri="http://schemas.microsoft.com/sharepoint/v3/contenttype/forms"/>
  </ds:schemaRefs>
</ds:datastoreItem>
</file>

<file path=customXml/itemProps2.xml><?xml version="1.0" encoding="utf-8"?>
<ds:datastoreItem xmlns:ds="http://schemas.openxmlformats.org/officeDocument/2006/customXml" ds:itemID="{9846201E-DF07-4095-9F76-DD2E789400A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B0AEFF06-C01D-4782-9025-60F06DFEAF4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Editorial</Template>
  <Application>Microsoft Office PowerPoint</Application>
  <PresentationFormat>Widescreen</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Editorial</vt:lpstr>
      <vt:lpstr>AetherInc: Privacy-First AI Paralegal Pitch Deck</vt:lpstr>
      <vt:lpstr>Introduction</vt:lpstr>
      <vt:lpstr>Company Overview and Vision</vt:lpstr>
      <vt:lpstr>Problem and Market Opportunity</vt:lpstr>
      <vt:lpstr>Challenges in Legal Workflows</vt:lpstr>
      <vt:lpstr>Market Potential for Legal AI</vt:lpstr>
      <vt:lpstr>Solution and Differentiators</vt:lpstr>
      <vt:lpstr>GURU: Privacy-First AI Paralegal</vt:lpstr>
      <vt:lpstr>Unique Value Proposition</vt:lpstr>
      <vt:lpstr>Business Model and Competitive Landscape</vt:lpstr>
      <vt:lpstr>Revenue Streams</vt:lpstr>
      <vt:lpstr>Competitive Advantage</vt:lpstr>
      <vt:lpstr>Funding and Roadmap</vt:lpstr>
      <vt:lpstr>Funding Requirements</vt:lpstr>
      <vt:lpstr>Roadmap and Milestones</vt:lpstr>
      <vt:lpstr>Conclusion</vt:lpstr>
      <vt:lpstr>Call to Action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4</cp:revision>
  <dcterms:created xsi:type="dcterms:W3CDTF">2025-08-04T19:41:08Z</dcterms:created>
  <dcterms:modified xsi:type="dcterms:W3CDTF">2025-11-24T13:01:23Z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